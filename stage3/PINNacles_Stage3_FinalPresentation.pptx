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E4A"/>
          </a:solidFill>
          <a:ln w="1524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126480"/>
            <a:ext cx="12188952" cy="731520"/>
          </a:xfrm>
          <a:prstGeom prst="rect">
            <a:avLst/>
          </a:prstGeom>
          <a:solidFill>
            <a:srgbClr val="1F4E79"/>
          </a:solidFill>
          <a:ln w="1524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D6E4F0"/>
                </a:solidFill>
                <a:latin typeface="Arial"/>
              </a:defRPr>
            </a:pPr>
            <a:r>
              <a:t>AE646 Stage 3 (Final)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10360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Arial"/>
              </a:defRPr>
            </a:pPr>
            <a:r>
              <a:t>Optimising a Fourier Neural Operator</a:t>
            </a:r>
            <a:br/>
            <a:r>
              <a:t>for Parametric Darcy 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56616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D6E4F0"/>
                </a:solidFill>
                <a:latin typeface="Arial"/>
              </a:defRPr>
            </a:pPr>
            <a:r>
              <a:t>Recipe, architecture, data, resolution, latency, and comparison with a finite-volume solver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29768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6E4F0"/>
                </a:solidFill>
                <a:latin typeface="Arial"/>
              </a:defRPr>
            </a:pPr>
            <a:r>
              <a:t>Team: PINNacles (Aryamann Srivastava, Varun Sathaye, Atishay Jain, Vedant S. Tiwari)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 w="1524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2E4A"/>
          </a:solidFill>
          <a:ln w="1524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73152"/>
          </a:xfrm>
          <a:prstGeom prst="rect">
            <a:avLst/>
          </a:prstGeom>
          <a:solidFill>
            <a:srgbClr val="2E86C1"/>
          </a:solidFill>
          <a:ln w="1524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rial"/>
              </a:defRPr>
            </a:pPr>
            <a:r>
              <a:t>Recap and Stage 3 Questions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658368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6E4F0"/>
                </a:solidFill>
                <a:latin typeface="Arial"/>
              </a:defRPr>
            </a:pPr>
            <a:r>
              <a:t>Learning the operator kappa -&gt; u of -div(kappa grad u) = 1, on real PDEBench data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E4A"/>
          </a:solidFill>
          <a:ln w="1524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565392"/>
            <a:ext cx="113659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6E4F0"/>
                </a:solidFill>
                <a:latin typeface="Arial"/>
              </a:defRPr>
            </a:pPr>
            <a:r>
              <a:t>AE646 Stage 3 Final Evaluation  |  Team PINNacles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17352" y="656539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  <a:latin typeface="Arial"/>
              </a:defRPr>
            </a:pPr>
            <a:r>
              <a:t>2 / 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371600"/>
            <a:ext cx="5545836" cy="5074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508760"/>
            <a:ext cx="50886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CA6F1E"/>
                </a:solidFill>
                <a:latin typeface="Arial"/>
              </a:defRPr>
            </a:pPr>
            <a:r>
              <a:t>Where Stage 2 ended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011680"/>
            <a:ext cx="5088636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Arial"/>
              </a:defRPr>
            </a:pPr>
            <a:r>
              <a:t>•  Real PDEBench pipeline: 900 / 100 / 200 split at 64x64, EDA, preprocessing and baseline ablations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Arial"/>
              </a:defRPr>
            </a:pPr>
            <a:r>
              <a:t>•  MLP (42 M): 0.082 mean rel. L2;  FNO (4.7 M): 0.052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Arial"/>
              </a:defRPr>
            </a:pPr>
            <a:r>
              <a:t>•  Speed-up claim vs an FDM solver (1030 ms)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31636" y="1371600"/>
            <a:ext cx="5545836" cy="5074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60236" y="1508760"/>
            <a:ext cx="50886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1E8B4C"/>
                </a:solidFill>
                <a:latin typeface="Arial"/>
              </a:defRPr>
            </a:pPr>
            <a:r>
              <a:t>Stage 3 questions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0236" y="2011680"/>
            <a:ext cx="5088636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Arial"/>
              </a:defRPr>
            </a:pPr>
            <a:r>
              <a:t>•  How much of the FNO error was optimisation, and how much capacity?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Arial"/>
              </a:defRPr>
            </a:pPr>
            <a:r>
              <a:t>•  Which architecture choices matter? How much data? Which resolution?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Arial"/>
              </a:defRPr>
            </a:pPr>
            <a:r>
              <a:t>•  What does inference cost, and how does the FNO compare with a proper finite-volume solver?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Arial"/>
              </a:defRPr>
            </a:pPr>
            <a:r>
              <a:t>•  What does the residual error mean physically?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 w="1524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2E4A"/>
          </a:solidFill>
          <a:ln w="1524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73152"/>
          </a:xfrm>
          <a:prstGeom prst="rect">
            <a:avLst/>
          </a:prstGeom>
          <a:solidFill>
            <a:srgbClr val="2E86C1"/>
          </a:solidFill>
          <a:ln w="1524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rial"/>
              </a:defRPr>
            </a:pPr>
            <a:r>
              <a:t>Experimental Protocol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658368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6E4F0"/>
                </a:solidFill>
                <a:latin typeface="Arial"/>
              </a:defRPr>
            </a:pPr>
            <a:r>
              <a:t>Same split as Stage 2; every choice made on validation data only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E4A"/>
          </a:solidFill>
          <a:ln w="1524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565392"/>
            <a:ext cx="113659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6E4F0"/>
                </a:solidFill>
                <a:latin typeface="Arial"/>
              </a:defRPr>
            </a:pPr>
            <a:r>
              <a:t>AE646 Stage 3 Final Evaluation  |  Team PINNacles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17352" y="656539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  <a:latin typeface="Arial"/>
              </a:defRPr>
            </a:pPr>
            <a:r>
              <a:t>3 / 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371600"/>
            <a:ext cx="11365992" cy="5074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737360"/>
            <a:ext cx="1081735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C3E50"/>
                </a:solidFill>
                <a:latin typeface="Arial"/>
              </a:defRPr>
            </a:pPr>
            <a:r>
              <a:t>•  Data: 900 train / 100 val / 200 test real fields (seed 42); 8,800 further real samples used only for the data-scaling study</a:t>
            </a:r>
          </a:p>
          <a:p>
            <a:pPr>
              <a:spcAft>
                <a:spcPts val="1200"/>
              </a:spcAft>
              <a:defRPr sz="1900">
                <a:solidFill>
                  <a:srgbClr val="2C3E50"/>
                </a:solidFill>
                <a:latin typeface="Arial"/>
              </a:defRPr>
            </a:pPr>
            <a:r>
              <a:t>•  Metric: per-sample relative L2 error in physical units, mean over test samples; test set evaluated once per run</a:t>
            </a:r>
          </a:p>
          <a:p>
            <a:pPr>
              <a:spcAft>
                <a:spcPts val="1200"/>
              </a:spcAft>
              <a:defRPr sz="1900">
                <a:solidFill>
                  <a:srgbClr val="2C3E50"/>
                </a:solidFill>
                <a:latin typeface="Arial"/>
              </a:defRPr>
            </a:pPr>
            <a:r>
              <a:t>•  Reference step budget = Stage 2 (100 epochs = 5,700 steps, batch 16); seeds 0-4; sd over seeds reported</a:t>
            </a:r>
          </a:p>
          <a:p>
            <a:pPr>
              <a:spcAft>
                <a:spcPts val="1200"/>
              </a:spcAft>
              <a:defRPr sz="1900">
                <a:solidFill>
                  <a:srgbClr val="2C3E50"/>
                </a:solidFill>
                <a:latin typeface="Arial"/>
              </a:defRPr>
            </a:pPr>
            <a:r>
              <a:t>•  Symmetry: data are D4-invariant; augmentation applied at 128x128 before sub-sampling (valid), test-time averaging over {identity, transpose}</a:t>
            </a:r>
          </a:p>
          <a:p>
            <a:pPr>
              <a:spcAft>
                <a:spcPts val="1200"/>
              </a:spcAft>
              <a:defRPr sz="1900">
                <a:solidFill>
                  <a:srgbClr val="2C3E50"/>
                </a:solidFill>
                <a:latin typeface="Arial"/>
              </a:defRPr>
            </a:pPr>
            <a:r>
              <a:t>•  Baseline given the same effort: MLP tuned on the same footing (capacity sweep, validation selection)</a:t>
            </a:r>
          </a:p>
          <a:p>
            <a:pPr>
              <a:spcAft>
                <a:spcPts val="1200"/>
              </a:spcAft>
              <a:defRPr sz="1900">
                <a:solidFill>
                  <a:srgbClr val="2C3E50"/>
                </a:solidFill>
                <a:latin typeface="Arial"/>
              </a:defRPr>
            </a:pPr>
            <a:r>
              <a:t>•  142 training runs on one GPU workstation; all configs and metrics stored per run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 w="1524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2E4A"/>
          </a:solidFill>
          <a:ln w="1524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73152"/>
          </a:xfrm>
          <a:prstGeom prst="rect">
            <a:avLst/>
          </a:prstGeom>
          <a:solidFill>
            <a:srgbClr val="2E86C1"/>
          </a:solidFill>
          <a:ln w="1524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rial"/>
              </a:defRPr>
            </a:pPr>
            <a:r>
              <a:t>Finding 1: The Training Recipe Limited Stage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658368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6E4F0"/>
                </a:solidFill>
                <a:latin typeface="Arial"/>
              </a:defRPr>
            </a:pPr>
            <a:r>
              <a:t>Same models, same 5,700 steps, 3 seeds - only the recipe changes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E4A"/>
          </a:solidFill>
          <a:ln w="1524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565392"/>
            <a:ext cx="113659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6E4F0"/>
                </a:solidFill>
                <a:latin typeface="Arial"/>
              </a:defRPr>
            </a:pPr>
            <a:r>
              <a:t>AE646 Stage 3 Final Evaluation  |  Team PINNacles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17352" y="656539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  <a:latin typeface="Arial"/>
              </a:defRPr>
            </a:pPr>
            <a:r>
              <a:t>4 / 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371600"/>
            <a:ext cx="6766560" cy="5074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ig_recipe_ab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112606"/>
            <a:ext cx="6583680" cy="3592907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7315200" y="1371600"/>
            <a:ext cx="4462272" cy="5074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43800" y="1508760"/>
            <a:ext cx="4005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1A2E4A"/>
                </a:solidFill>
                <a:latin typeface="Arial"/>
              </a:defRPr>
            </a:pPr>
            <a:r>
              <a:t>Result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0" y="2011680"/>
            <a:ext cx="409651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C3E50"/>
                </a:solidFill>
                <a:latin typeface="Arial"/>
              </a:defRPr>
            </a:pPr>
            <a:r>
              <a:t>•  Stage 2 recipe: MSE loss; cosine LR restarted every 200 steps</a:t>
            </a:r>
          </a:p>
          <a:p>
            <a:pPr>
              <a:spcAft>
                <a:spcPts val="1000"/>
              </a:spcAft>
              <a:defRPr sz="1600">
                <a:solidFill>
                  <a:srgbClr val="2C3E50"/>
                </a:solidFill>
                <a:latin typeface="Arial"/>
              </a:defRPr>
            </a:pPr>
            <a:r>
              <a:t>•  Relative-L2 loss: -26%.  Single cosine: -7%.  D4 augmentation on top: -35%</a:t>
            </a:r>
          </a:p>
          <a:p>
            <a:pPr>
              <a:spcAft>
                <a:spcPts val="1000"/>
              </a:spcAft>
              <a:defRPr sz="1600">
                <a:solidFill>
                  <a:srgbClr val="2C3E50"/>
                </a:solidFill>
                <a:latin typeface="Arial"/>
              </a:defRPr>
            </a:pPr>
            <a:r>
              <a:t>•  FNO 0.0524 -&gt; 0.0249 (2.1x lower); MLP 0.0802 -&gt; 0.0454</a:t>
            </a:r>
          </a:p>
          <a:p>
            <a:pPr>
              <a:spcAft>
                <a:spcPts val="1000"/>
              </a:spcAft>
              <a:defRPr sz="1600">
                <a:solidFill>
                  <a:srgbClr val="2C3E50"/>
                </a:solidFill>
                <a:latin typeface="Arial"/>
              </a:defRPr>
            </a:pPr>
            <a:r>
              <a:t>•  Gains interact: D4 alone does not help under the old recipe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 w="1524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2E4A"/>
          </a:solidFill>
          <a:ln w="1524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73152"/>
          </a:xfrm>
          <a:prstGeom prst="rect">
            <a:avLst/>
          </a:prstGeom>
          <a:solidFill>
            <a:srgbClr val="2E86C1"/>
          </a:solidFill>
          <a:ln w="1524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rial"/>
              </a:defRPr>
            </a:pPr>
            <a:r>
              <a:t>Finding 2: Architecture Choices Matter Little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658368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6E4F0"/>
                </a:solidFill>
                <a:latin typeface="Arial"/>
              </a:defRPr>
            </a:pPr>
            <a:r>
              <a:t>One-factor sweeps around (12 modes, width 64, 4 layers); selection on validation error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E4A"/>
          </a:solidFill>
          <a:ln w="1524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565392"/>
            <a:ext cx="113659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6E4F0"/>
                </a:solidFill>
                <a:latin typeface="Arial"/>
              </a:defRPr>
            </a:pPr>
            <a:r>
              <a:t>AE646 Stage 3 Final Evaluation  |  Team PINNacles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17352" y="656539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  <a:latin typeface="Arial"/>
              </a:defRPr>
            </a:pPr>
            <a:r>
              <a:t>5 / 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371600"/>
            <a:ext cx="11365992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ig_arch_swee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9550" y="1463040"/>
            <a:ext cx="9269852" cy="219456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411480" y="3931920"/>
            <a:ext cx="11365992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069080"/>
            <a:ext cx="109087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1E8B4C"/>
                </a:solidFill>
                <a:latin typeface="Arial"/>
              </a:defRPr>
            </a:pPr>
            <a:r>
              <a:t>What we learned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480560"/>
            <a:ext cx="1081735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  <a:latin typeface="Arial"/>
              </a:defRPr>
            </a:pPr>
            <a:r>
              <a:t>•  Modes 4 to 32 (0.5 M to 34 M parameters): only 0.022-0.025 test error;  width &gt;= 32 saturates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  <a:latin typeface="Arial"/>
              </a:defRPr>
            </a:pPr>
            <a:r>
              <a:t>•  Depth and training length help slowly: 2 -&gt; 8 layers 0.030 -&gt; 0.020;  5.7k -&gt; 80k steps 0.0247 -&gt; 0.0205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  <a:latin typeface="Arial"/>
              </a:defRPr>
            </a:pPr>
            <a:r>
              <a:t>•  Learning rate, weight decay, batch size: &lt; 0.001 effect.  Validation picks deeper, not wider: (12, 64, 8), 9.5 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 w="1524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2E4A"/>
          </a:solidFill>
          <a:ln w="1524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73152"/>
          </a:xfrm>
          <a:prstGeom prst="rect">
            <a:avLst/>
          </a:prstGeom>
          <a:solidFill>
            <a:srgbClr val="2E86C1"/>
          </a:solidFill>
          <a:ln w="1524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rial"/>
              </a:defRPr>
            </a:pPr>
            <a:r>
              <a:t>Final Models: FNO vs Tuned MLP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658368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6E4F0"/>
                </a:solidFill>
                <a:latin typeface="Arial"/>
              </a:defRPr>
            </a:pPr>
            <a:r>
              <a:t>60,000 steps, full recipe, 5 seeds, 200 held-out test fields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E4A"/>
          </a:solidFill>
          <a:ln w="1524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565392"/>
            <a:ext cx="113659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6E4F0"/>
                </a:solidFill>
                <a:latin typeface="Arial"/>
              </a:defRPr>
            </a:pPr>
            <a:r>
              <a:t>AE646 Stage 3 Final Evaluation  |  Team PINNacles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17352" y="656539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  <a:latin typeface="Arial"/>
              </a:defRPr>
            </a:pPr>
            <a:r>
              <a:t>6 / 13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11480" y="1371600"/>
          <a:ext cx="11365992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3198"/>
                <a:gridCol w="2273198"/>
                <a:gridCol w="2273198"/>
                <a:gridCol w="2273198"/>
                <a:gridCol w="2273200"/>
              </a:tblGrid>
              <a:tr h="475488">
                <a:tc>
                  <a:txBody>
                    <a:bodyPr/>
                    <a:lstStyle/>
                    <a:p>
                      <a:pPr algn="l">
                        <a:defRPr sz="17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Params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Mean rel. L2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Median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With TTA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>
                        <a:defRPr sz="1700" b="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Stage 2 MLP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42.0 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0.0820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0.0695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>
                        <a:defRPr sz="1700" b="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Stage 2 FNO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4.7 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0.0521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0.0398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>
                        <a:defRPr sz="1700" b="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Final MLP (3x4096)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100.7 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0.0415 +- 0.0009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0.0272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0.0386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>
                        <a:defRPr sz="1700" b="1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Final FNO (w64, L8)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1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9.5 M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1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0.0202 +- 0.0004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1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0.0070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1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0.0200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411480" y="3977640"/>
            <a:ext cx="11365992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4114800"/>
            <a:ext cx="109087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1E8B4C"/>
                </a:solidFill>
                <a:latin typeface="Arial"/>
              </a:defRPr>
            </a:pPr>
            <a:r>
              <a:t>Take-aways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572000"/>
            <a:ext cx="1081735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C3E50"/>
                </a:solidFill>
                <a:latin typeface="Arial"/>
              </a:defRPr>
            </a:pPr>
            <a:r>
              <a:t>•  FNO error 2.05x lower than an equally tuned MLP (Stage 2 gap: 1.6x) with 10.6x fewer parameters; 2.6x lower than the Stage 2 FNO</a:t>
            </a:r>
          </a:p>
          <a:p>
            <a:pPr>
              <a:spcAft>
                <a:spcPts val="800"/>
              </a:spcAft>
              <a:defRPr sz="1700">
                <a:solidFill>
                  <a:srgbClr val="2C3E50"/>
                </a:solidFill>
                <a:latin typeface="Arial"/>
              </a:defRPr>
            </a:pPr>
            <a:r>
              <a:t>•  Median FNO error is 0.7%: the mean is dominated by a small tail (next slides)</a:t>
            </a:r>
          </a:p>
          <a:p>
            <a:pPr>
              <a:spcAft>
                <a:spcPts val="800"/>
              </a:spcAft>
              <a:defRPr sz="1700">
                <a:solidFill>
                  <a:srgbClr val="2C3E50"/>
                </a:solidFill>
                <a:latin typeface="Arial"/>
              </a:defRPr>
            </a:pPr>
            <a:r>
              <a:t>•  Training the final FNO: about 32 minutes on one shared GPU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 w="1524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2E4A"/>
          </a:solidFill>
          <a:ln w="1524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73152"/>
          </a:xfrm>
          <a:prstGeom prst="rect">
            <a:avLst/>
          </a:prstGeom>
          <a:solidFill>
            <a:srgbClr val="2E86C1"/>
          </a:solidFill>
          <a:ln w="1524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rial"/>
              </a:defRPr>
            </a:pPr>
            <a:r>
              <a:t>Finding 3: Data Scaling and Resolution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658368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6E4F0"/>
                </a:solidFill>
                <a:latin typeface="Arial"/>
              </a:defRPr>
            </a:pPr>
            <a:r>
              <a:t>FNO vs MLP with 100 to 9,700 samples; train-vs-evaluation resolution matrix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E4A"/>
          </a:solidFill>
          <a:ln w="1524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565392"/>
            <a:ext cx="113659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6E4F0"/>
                </a:solidFill>
                <a:latin typeface="Arial"/>
              </a:defRPr>
            </a:pPr>
            <a:r>
              <a:t>AE646 Stage 3 Final Evaluation  |  Team PINNacles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17352" y="656539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  <a:latin typeface="Arial"/>
              </a:defRPr>
            </a:pPr>
            <a:r>
              <a:t>7 / 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371600"/>
            <a:ext cx="557784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ig_data_scal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590" y="1463040"/>
            <a:ext cx="4475620" cy="301752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6126480" y="1371600"/>
            <a:ext cx="5650992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fig_resol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2773" y="1463040"/>
            <a:ext cx="3138406" cy="301752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411480" y="4754880"/>
            <a:ext cx="11365992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4892040"/>
            <a:ext cx="1081735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  <a:latin typeface="Arial"/>
              </a:defRPr>
            </a:pPr>
            <a:r>
              <a:t>•  FNO with 400 samples beats the MLP with 9,700; FNO plateaus near 0.0195 for &gt;= 5,000 samples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  <a:latin typeface="Arial"/>
              </a:defRPr>
            </a:pPr>
            <a:r>
              <a:t>•  Zero-shot transfer 64 -&gt; 128: 0.038 (native 128: 0.021); 64 -&gt; 32: 0.065: useful, but 1.7-3x worse than native resolution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 w="1524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2E4A"/>
          </a:solidFill>
          <a:ln w="1524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73152"/>
          </a:xfrm>
          <a:prstGeom prst="rect">
            <a:avLst/>
          </a:prstGeom>
          <a:solidFill>
            <a:srgbClr val="2E86C1"/>
          </a:solidFill>
          <a:ln w="1524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rial"/>
              </a:defRPr>
            </a:pPr>
            <a:r>
              <a:t>Finding 4: Comparison with a Finite-Volume Solver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658368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6E4F0"/>
                </a:solidFill>
                <a:latin typeface="Arial"/>
              </a:defRPr>
            </a:pPr>
            <a:r>
              <a:t>Correction to Stage 2: the old FDM reference was inefficient - the 1443x / 7740x speed-ups are withdrawn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E4A"/>
          </a:solidFill>
          <a:ln w="1524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565392"/>
            <a:ext cx="113659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6E4F0"/>
                </a:solidFill>
                <a:latin typeface="Arial"/>
              </a:defRPr>
            </a:pPr>
            <a:r>
              <a:t>AE646 Stage 3 Final Evaluation  |  Team PINNacles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17352" y="656539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  <a:latin typeface="Arial"/>
              </a:defRPr>
            </a:pPr>
            <a:r>
              <a:t>8 / 13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11480" y="1371600"/>
          <a:ext cx="11365992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3198"/>
                <a:gridCol w="2273198"/>
                <a:gridCol w="2273198"/>
                <a:gridCol w="2273198"/>
                <a:gridCol w="2273200"/>
              </a:tblGrid>
              <a:tr h="457200">
                <a:tc>
                  <a:txBody>
                    <a:bodyPr/>
                    <a:lstStyle/>
                    <a:p>
                      <a:pPr algn="l"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Grid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Calibrated FV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Error vs truth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Direct LU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AMG-CG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600" b="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32 x 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harmonic, b = 0.7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0.094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1.8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5.5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600" b="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64 x 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harmonic, b = 0.8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0.044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7.1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11.6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600" b="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128 x 128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arithmetic, b = 1.05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0.024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37.4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30.7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600" b="1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FNO, 64 x 64 (GPU)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9.5 M parameters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0.020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1.4 ms (b=1)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0.20 ms (batched)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411480" y="3886200"/>
            <a:ext cx="11365992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4023360"/>
            <a:ext cx="109087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CA6F1E"/>
                </a:solidFill>
                <a:latin typeface="Arial"/>
              </a:defRPr>
            </a:pPr>
            <a:r>
              <a:t>How to read 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434840"/>
            <a:ext cx="10817352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  <a:latin typeface="Arial"/>
              </a:defRPr>
            </a:pPr>
            <a:r>
              <a:t>•  Vectorised solver; boundary distance b calibrated on validation data (PDEBench's truth behaves as if the Dirichlet boundary were ~1 cell outside the array)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  <a:latin typeface="Arial"/>
              </a:defRPr>
            </a:pPr>
            <a:r>
              <a:t>•  At equal resolution the FNO agrees with the data 2.2x better; partly because it learns the generator's own discretisation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  <a:latin typeface="Arial"/>
              </a:defRPr>
            </a:pPr>
            <a:r>
              <a:t>•  Single CPU thread: FNO 37 ms at batch 1 - NOT faster than the 64^2 solver (7 ms); the gain is GPU batching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 w="1524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2E4A"/>
          </a:solidFill>
          <a:ln w="1524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73152"/>
          </a:xfrm>
          <a:prstGeom prst="rect">
            <a:avLst/>
          </a:prstGeom>
          <a:solidFill>
            <a:srgbClr val="2E86C1"/>
          </a:solidFill>
          <a:ln w="1524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rial"/>
              </a:defRPr>
            </a:pPr>
            <a:r>
              <a:t>Inference Cost: Error vs Time per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658368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6E4F0"/>
                </a:solidFill>
                <a:latin typeface="Arial"/>
              </a:defRPr>
            </a:pPr>
            <a:r>
              <a:t>CUDA-event timing on an idle GPU; CPU numbers from the workstation CPU (indicative)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E4A"/>
          </a:solidFill>
          <a:ln w="1524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565392"/>
            <a:ext cx="113659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6E4F0"/>
                </a:solidFill>
                <a:latin typeface="Arial"/>
              </a:defRPr>
            </a:pPr>
            <a:r>
              <a:t>AE646 Stage 3 Final Evaluation  |  Team PINNacles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17352" y="656539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  <a:latin typeface="Arial"/>
              </a:defRPr>
            </a:pPr>
            <a:r>
              <a:t>9 / 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371600"/>
            <a:ext cx="6675120" cy="5074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ig_pare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036398"/>
            <a:ext cx="6492240" cy="3745324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7223760" y="1371600"/>
            <a:ext cx="4553712" cy="5074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52360" y="1508760"/>
            <a:ext cx="40965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1E8B4C"/>
                </a:solidFill>
                <a:latin typeface="Arial"/>
              </a:defRPr>
            </a:pPr>
            <a:r>
              <a:t>Latency at 64 x 64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0" y="2011680"/>
            <a:ext cx="418795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  <a:latin typeface="Arial"/>
              </a:defRPr>
            </a:pPr>
            <a:r>
              <a:t>•  FNO (9.5 M): 1.44 ms at batch 1, 0.20 ms per sample at batch 128</a:t>
            </a: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  <a:latin typeface="Arial"/>
              </a:defRPr>
            </a:pPr>
            <a:r>
              <a:t>•  5x (batch 1) to 35x (batched) faster than the 64^2 solver, and 26-187x faster than the 128^2 solver</a:t>
            </a: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  <a:latin typeface="Arial"/>
              </a:defRPr>
            </a:pPr>
            <a:r>
              <a:t>•  MLP: 0.006 ms/sample but 2x worse accuracy</a:t>
            </a: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  <a:latin typeface="Arial"/>
              </a:defRPr>
            </a:pPr>
            <a:r>
              <a:t>•  TF32 gives no gain; bfloat16 unsupported for complex FFT</a:t>
            </a: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  <a:latin typeface="Arial"/>
              </a:defRPr>
            </a:pPr>
            <a:r>
              <a:t>•  Break-even vs the 128^2 solver: ~5e4 solves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 w="1524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2E4A"/>
          </a:solidFill>
          <a:ln w="1524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73152"/>
          </a:xfrm>
          <a:prstGeom prst="rect">
            <a:avLst/>
          </a:prstGeom>
          <a:solidFill>
            <a:srgbClr val="2E86C1"/>
          </a:solidFill>
          <a:ln w="1524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rial"/>
              </a:defRPr>
            </a:pPr>
            <a:r>
              <a:t>Physical Interpretation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658368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6E4F0"/>
                </a:solidFill>
                <a:latin typeface="Arial"/>
              </a:defRPr>
            </a:pPr>
            <a:r>
              <a:t>Final FNO on the 200 test fields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E4A"/>
          </a:solidFill>
          <a:ln w="1524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565392"/>
            <a:ext cx="113659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6E4F0"/>
                </a:solidFill>
                <a:latin typeface="Arial"/>
              </a:defRPr>
            </a:pPr>
            <a:r>
              <a:t>AE646 Stage 3 Final Evaluation  |  Team PINNacles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17352" y="656539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  <a:latin typeface="Arial"/>
              </a:defRPr>
            </a:pPr>
            <a:r>
              <a:t>10 / 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371600"/>
            <a:ext cx="11365992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ig_diagnost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1631" y="1463040"/>
            <a:ext cx="8125690" cy="210312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411480" y="3840480"/>
            <a:ext cx="11365992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977640"/>
            <a:ext cx="1081735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  <a:latin typeface="Arial"/>
              </a:defRPr>
            </a:pPr>
            <a:r>
              <a:t>•  Physics respected: PDE residual within 6% of the truth's own; mean pressure to 1.7%; boundary ring ratio 0.1157 vs 0.1159; 1.5e-5 of pixels negative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  <a:latin typeface="Arial"/>
              </a:defRPr>
            </a:pPr>
            <a:r>
              <a:t>•  Error is NOT concentrated at interfaces (0.0098 next to them vs 0.0075 at 8-16 cells); largest in large low-kappa regions with high pressure (r = 0.61 with peak u)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  <a:latin typeface="Arial"/>
              </a:defRPr>
            </a:pPr>
            <a:r>
              <a:t>•  Spectral: truth needs ~12 modes (1.5% truncation error), but a 4-mode FNO still reaches 2.5%: the bypass, nonlinearity and depth regenerate high frequencies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 w="1524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2E4A"/>
          </a:solidFill>
          <a:ln w="1524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73152"/>
          </a:xfrm>
          <a:prstGeom prst="rect">
            <a:avLst/>
          </a:prstGeom>
          <a:solidFill>
            <a:srgbClr val="2E86C1"/>
          </a:solidFill>
          <a:ln w="1524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rial"/>
              </a:defRPr>
            </a:pPr>
            <a:r>
              <a:t>Best, Median and Worst Test Sample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658368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6E4F0"/>
                </a:solidFill>
                <a:latin typeface="Arial"/>
              </a:defRPr>
            </a:pPr>
            <a:r>
              <a:t>kappa | truth | FNO | absolute error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E4A"/>
          </a:solidFill>
          <a:ln w="1524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565392"/>
            <a:ext cx="113659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6E4F0"/>
                </a:solidFill>
                <a:latin typeface="Arial"/>
              </a:defRPr>
            </a:pPr>
            <a:r>
              <a:t>AE646 Stage 3 Final Evaluation  |  Team PINNacles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17352" y="656539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  <a:latin typeface="Arial"/>
              </a:defRPr>
            </a:pPr>
            <a:r>
              <a:t>11 / 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371600"/>
            <a:ext cx="6035040" cy="5074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ig_samp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948935"/>
            <a:ext cx="5852160" cy="392025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6583680" y="1371600"/>
            <a:ext cx="5193792" cy="5074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12280" y="1508760"/>
            <a:ext cx="47365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CA6F1E"/>
                </a:solidFill>
                <a:latin typeface="Arial"/>
              </a:defRPr>
            </a:pPr>
            <a:r>
              <a:t>Reading the figure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2011680"/>
            <a:ext cx="482803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2C3E50"/>
                </a:solidFill>
                <a:latin typeface="Arial"/>
              </a:defRPr>
            </a:pPr>
            <a:r>
              <a:t>•  Best 0.002, median 0.007</a:t>
            </a:r>
          </a:p>
          <a:p>
            <a:pPr>
              <a:spcAft>
                <a:spcPts val="900"/>
              </a:spcAft>
              <a:defRPr sz="1500">
                <a:solidFill>
                  <a:srgbClr val="2C3E50"/>
                </a:solidFill>
                <a:latin typeface="Arial"/>
              </a:defRPr>
            </a:pPr>
            <a:r>
              <a:t>•  Worst 0.358: uniform kappa = 0.1; correct shape, saturated amplitude</a:t>
            </a:r>
          </a:p>
          <a:p>
            <a:pPr>
              <a:spcAft>
                <a:spcPts val="900"/>
              </a:spcAft>
              <a:defRPr sz="1500">
                <a:solidFill>
                  <a:srgbClr val="2C3E50"/>
                </a:solidFill>
                <a:latin typeface="Arial"/>
              </a:defRPr>
            </a:pPr>
            <a:r>
              <a:t>•  The two uniform fields have errors 0.358 and 0.085; without them the mean falls from 2.0% to 1.8%</a:t>
            </a:r>
          </a:p>
          <a:p>
            <a:pPr>
              <a:spcAft>
                <a:spcPts val="900"/>
              </a:spcAft>
              <a:defRPr sz="1500">
                <a:solidFill>
                  <a:srgbClr val="2C3E50"/>
                </a:solidFill>
                <a:latin typeface="Arial"/>
              </a:defRPr>
            </a:pPr>
            <a:r>
              <a:t>•  Since u ~ 1/kappa for uniform kappa, a scale-normalised formulation could remove this failure (not tested)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 w="1524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2E4A"/>
          </a:solidFill>
          <a:ln w="1524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73152"/>
          </a:xfrm>
          <a:prstGeom prst="rect">
            <a:avLst/>
          </a:prstGeom>
          <a:solidFill>
            <a:srgbClr val="2E86C1"/>
          </a:solidFill>
          <a:ln w="1524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rial"/>
              </a:defRPr>
            </a:pPr>
            <a:r>
              <a:t>Limitations and Honest Notes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658368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6E4F0"/>
                </a:solidFill>
                <a:latin typeface="Arial"/>
              </a:defRPr>
            </a:pPr>
            <a:r>
              <a:t>What the results do and do not show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E4A"/>
          </a:solidFill>
          <a:ln w="1524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565392"/>
            <a:ext cx="113659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6E4F0"/>
                </a:solidFill>
                <a:latin typeface="Arial"/>
              </a:defRPr>
            </a:pPr>
            <a:r>
              <a:t>AE646 Stage 3 Final Evaluation  |  Team PINNacles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17352" y="656539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  <a:latin typeface="Arial"/>
              </a:defRPr>
            </a:pPr>
            <a:r>
              <a:t>12 / 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371600"/>
            <a:ext cx="11365992" cy="5074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737360"/>
            <a:ext cx="1081735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>
                <a:solidFill>
                  <a:srgbClr val="2C3E50"/>
                </a:solidFill>
                <a:latin typeface="Arial"/>
              </a:defRPr>
            </a:pPr>
            <a:r>
              <a:t>•  One PDE, one dataset, binary kappa, f = 1; the plateau and scaling laws may not transfer</a:t>
            </a:r>
          </a:p>
          <a:p>
            <a:pPr>
              <a:spcAft>
                <a:spcPts val="1400"/>
              </a:spcAft>
              <a:defRPr sz="1900">
                <a:solidFill>
                  <a:srgbClr val="2C3E50"/>
                </a:solidFill>
                <a:latin typeface="Arial"/>
              </a:defRPr>
            </a:pPr>
            <a:r>
              <a:t>•  Top architectures differ by less than seed noise; single seed per sweep point (final models: 5 seeds)</a:t>
            </a:r>
          </a:p>
          <a:p>
            <a:pPr>
              <a:spcAft>
                <a:spcPts val="1400"/>
              </a:spcAft>
              <a:defRPr sz="1900">
                <a:solidFill>
                  <a:srgbClr val="2C3E50"/>
                </a:solidFill>
                <a:latin typeface="Arial"/>
              </a:defRPr>
            </a:pPr>
            <a:r>
              <a:t>•  Stage 2 absolute errors reflected a sub-optimal recipe (same for both models, so the comparison was fair); Stage 2 speed-up figures withdrawn</a:t>
            </a:r>
          </a:p>
          <a:p>
            <a:pPr>
              <a:spcAft>
                <a:spcPts val="1400"/>
              </a:spcAft>
              <a:defRPr sz="1900">
                <a:solidFill>
                  <a:srgbClr val="2C3E50"/>
                </a:solidFill>
                <a:latin typeface="Arial"/>
              </a:defRPr>
            </a:pPr>
            <a:r>
              <a:t>•  Solver was calibrated to the dataset: the comparison measures agreement with PDEBench, not fidelity to the continuous PDE; single-thread, uncompiled solver</a:t>
            </a:r>
          </a:p>
          <a:p>
            <a:pPr>
              <a:spcAft>
                <a:spcPts val="1400"/>
              </a:spcAft>
              <a:defRPr sz="1900">
                <a:solidFill>
                  <a:srgbClr val="2C3E50"/>
                </a:solidFill>
                <a:latin typeface="Arial"/>
              </a:defRPr>
            </a:pPr>
            <a:r>
              <a:t>•  Timings on a shared machine: CPU numbers are indicative; GPU timing on an idle GPU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E4A"/>
          </a:solidFill>
          <a:ln w="1524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88952" cy="64008"/>
          </a:xfrm>
          <a:prstGeom prst="rect">
            <a:avLst/>
          </a:prstGeom>
          <a:solidFill>
            <a:srgbClr val="2E86C1"/>
          </a:solidFill>
          <a:ln w="1524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109167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1828800" cy="758952"/>
          </a:xfrm>
          <a:prstGeom prst="rect">
            <a:avLst/>
          </a:prstGeom>
          <a:solidFill>
            <a:srgbClr val="2E86C1"/>
          </a:solidFill>
          <a:ln w="1524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Arial"/>
              </a:defRPr>
            </a:pPr>
            <a:r>
              <a:t>Recipe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1481328"/>
            <a:ext cx="9262872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6E4F0"/>
                </a:solidFill>
                <a:latin typeface="Arial"/>
              </a:defRPr>
            </a:pPr>
            <a:r>
              <a:t>Relative-L2 loss + single cosine + D4 augmentation halve the FNO error at equal cost (0.052 -&gt; 0.025)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240280"/>
            <a:ext cx="1828800" cy="758952"/>
          </a:xfrm>
          <a:prstGeom prst="rect">
            <a:avLst/>
          </a:prstGeom>
          <a:solidFill>
            <a:srgbClr val="2E86C1"/>
          </a:solidFill>
          <a:ln w="1524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42316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Arial"/>
              </a:defRPr>
            </a:pPr>
            <a:r>
              <a:t>Final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350008"/>
            <a:ext cx="9262872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6E4F0"/>
                </a:solidFill>
                <a:latin typeface="Arial"/>
              </a:defRPr>
            </a:pPr>
            <a:r>
              <a:t>FNO 9.5 M: 0.0202 +- 0.0004 vs tuned MLP 100.7 M: 0.0415 +- 0.0009 (5 seeds): 2.05x, 10.6x fewer parameters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108960"/>
            <a:ext cx="1828800" cy="758952"/>
          </a:xfrm>
          <a:prstGeom prst="rect">
            <a:avLst/>
          </a:prstGeom>
          <a:solidFill>
            <a:srgbClr val="2E86C1"/>
          </a:solidFill>
          <a:ln w="1524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329184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Arial"/>
              </a:defRPr>
            </a:pPr>
            <a:r>
              <a:t>Limits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3218688"/>
            <a:ext cx="9262872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6E4F0"/>
                </a:solidFill>
                <a:latin typeface="Arial"/>
              </a:defRPr>
            </a:pPr>
            <a:r>
              <a:t>Insensitive to modes/width; plateaus near 2% for &gt;= 5,000 samples; zero-shot resolution transfer is moderate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977640"/>
            <a:ext cx="1828800" cy="758952"/>
          </a:xfrm>
          <a:prstGeom prst="rect">
            <a:avLst/>
          </a:prstGeom>
          <a:solidFill>
            <a:srgbClr val="2E86C1"/>
          </a:solidFill>
          <a:ln w="1524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416052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Arial"/>
              </a:defRPr>
            </a:pPr>
            <a:r>
              <a:t>Solver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8880" y="4087368"/>
            <a:ext cx="9262872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6E4F0"/>
                </a:solidFill>
                <a:latin typeface="Arial"/>
              </a:defRPr>
            </a:pPr>
            <a:r>
              <a:t>2.2x more accurate than a calibrated FV solver at 64x64 and 5-35x faster on GPU; not faster on one CPU core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846320"/>
            <a:ext cx="1828800" cy="758952"/>
          </a:xfrm>
          <a:prstGeom prst="rect">
            <a:avLst/>
          </a:prstGeom>
          <a:solidFill>
            <a:srgbClr val="2E86C1"/>
          </a:solidFill>
          <a:ln w="1524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502920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Arial"/>
              </a:defRPr>
            </a:pPr>
            <a:r>
              <a:t>Physics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68880" y="4956048"/>
            <a:ext cx="9262872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6E4F0"/>
                </a:solidFill>
                <a:latin typeface="Arial"/>
              </a:defRPr>
            </a:pPr>
            <a:r>
              <a:t>Respects BC, positivity, discrete PDE; residual error sits in uniform / low-contrast, high-amplitude fields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291072"/>
            <a:ext cx="12188952" cy="566928"/>
          </a:xfrm>
          <a:prstGeom prst="rect">
            <a:avLst/>
          </a:prstGeom>
          <a:solidFill>
            <a:srgbClr val="1F4E79"/>
          </a:solidFill>
          <a:ln w="1524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355080"/>
            <a:ext cx="1127455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0">
                <a:solidFill>
                  <a:srgbClr val="FFFFFF"/>
                </a:solidFill>
                <a:latin typeface="Arial"/>
              </a:defRPr>
            </a:pPr>
            <a:r>
              <a:t>Thank you  -  Questions welcome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