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D6E4F0"/>
                </a:solidFill>
                <a:latin typeface="Arial"/>
              </a:defRPr>
            </a:pPr>
            <a:r>
              <a:t>AE646 Stage 2 (Interim)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Fourier Neural Operator for</a:t>
            </a:r>
            <a:br/>
            <a:r>
              <a:t>Parametric Darcy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Team: PINNacles (Aryamann Srivastava, Varun Sathaye, Atishay Jain, Vedant S. Tiwari)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Learning the solution operator of the 2D Darcy flow equation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2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Governing equation and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57400"/>
            <a:ext cx="10817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4E79"/>
                </a:solidFill>
                <a:latin typeface="Arial"/>
              </a:defRPr>
            </a:pPr>
            <a:r>
              <a:t>-div( κ(x,y) ∇u(x,y) ) = f(x,y)   on (0,1)²,    u = 0 on the boundary,   f =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08173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κ(x,y): piecewise-constant permeability, values in {0.1, 1.0};  u(x,y): steady pressure field.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Goal: learn the operator  G : κ → u  once, then predict for any new κ in milliseconds.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Numerical solvers (FDM / FEM) must re-solve the PDE for every new κ: too slow for optimisation, UQ, control.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Project theme #8: operator learning for parametric PDEs.  Baseline: MLP.  SciML model: Fourier Neural Operator (FNO).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Dataset Pipeline and Exploratory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Real PDEBench 2D Darcy Flow (β = 1.0)  -  pipeline completed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475488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11680"/>
            <a:ext cx="4389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10,000 real samples, 128×128; checksum-verified download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Reproducible subset (seed 42): 1,000 train/val (900 / 100) + 200 test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Every 2nd grid point → 64×64; add (x, y) channels → 64×64×3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Standardise with training-set statistics only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200 test fields also kept at native 128×128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2E4A"/>
                </a:solidFill>
                <a:latin typeface="Arial"/>
              </a:defRPr>
            </a:pPr>
            <a:r>
              <a:t>EDA findings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709160"/>
            <a:ext cx="4389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κ exactly bimodal; high-κ area fraction 0.48 ± 0.21</a:t>
            </a:r>
          </a:p>
          <a:p>
            <a:pPr>
              <a:spcAft>
                <a:spcPts val="4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180/200 test fields: a single high-κ blob; 2/200 exactly uniform</a:t>
            </a:r>
          </a:p>
          <a:p>
            <a:pPr>
              <a:spcAft>
                <a:spcPts val="4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Peak pressure varies widely (0.1 to &gt;1.0)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371600"/>
            <a:ext cx="647395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g8_eda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78419"/>
            <a:ext cx="6291072" cy="48612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Preprocessing Ablation (MLP)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One choice varied at a time; 3 seeds each; same split and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4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7665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10_preprocess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57400"/>
            <a:ext cx="6583680" cy="37033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371600"/>
            <a:ext cx="446227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508760"/>
            <a:ext cx="4005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11680"/>
            <a:ext cx="40965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Reference (standardised + coordinates): 0.0842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No coordinate channels: 0.0843  (no effect on the MLP)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No input normalisation: 0.0864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No target normalisation: 0.0917  (+9%)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Target normalisation is the choice that matters; the pipeline choices are justified, not assumed.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Models and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MLP baseline and Fourier Neural Operator - both implemented and trained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5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54583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MLP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0886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Flatten 64×64×3 → 3 hidden layers × 2048 (GELU) → 64×64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42.0 M parameters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No spatial inductive bias; fixed to 64×64 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1371600"/>
            <a:ext cx="554583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0236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Fourier Neural Operator (FNO)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236" y="2011680"/>
            <a:ext cx="50886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Lift 3→64 channels; 4 spectral-convolution blocks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Each block: FFT → keep 12×12 modes → learned complex weights → inverse FFT, plus 1×1 bypass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4.7 M parameters (9× fewer than the MLP)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72000"/>
            <a:ext cx="113659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Shared training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087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AdamW (weight decay 1e-4), peak LR 1e-3, cosine schedule; batch 16; 100 epochs; best-validation checkpoint kept</a:t>
            </a:r>
          </a:p>
          <a:p>
            <a:pPr>
              <a:spcAft>
                <a:spcPts val="6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Loss: MSE on standardised pressure.  Reported metric: relative L2 error per sample, in physical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Baseline Development: Depth and Optimiser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Real re-trained variants on the same data, split and schedule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6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7665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7_mlp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57400"/>
            <a:ext cx="6583680" cy="37033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371600"/>
            <a:ext cx="446227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508760"/>
            <a:ext cx="4005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11680"/>
            <a:ext cx="4096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1 layer: 0.1008    2 layers: 0.0796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3 layers (final baseline): 0.0857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3 layers with SGD+momentum: 0.1209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SGD is clearly worse: justifies AdamW.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2 vs 3 layers differ by less than the run-to-run noise (~0.004): treated as equivalent.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Baseline was fixed before the study, so it is a fair, not a weakened, comparison for the FNO.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Preliminary Quantitative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MLP baseline vs FNO - 200 held-out test samples, relative L2 in physical units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7 / 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71600"/>
          <a:ext cx="11365992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3713"/>
                <a:gridCol w="1623713"/>
                <a:gridCol w="1623713"/>
                <a:gridCol w="1623713"/>
                <a:gridCol w="1623713"/>
                <a:gridCol w="1623713"/>
                <a:gridCol w="1623714"/>
              </a:tblGrid>
              <a:tr h="42672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MLP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42.0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0.0695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0.0456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0.3367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FNO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4.7 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0.0521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0.0398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0.0451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0.0155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0.3467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2834640"/>
            <a:ext cx="6035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_error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68026"/>
            <a:ext cx="5852160" cy="325366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583680" y="2834640"/>
            <a:ext cx="51937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2971800"/>
            <a:ext cx="4736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Observations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474720"/>
            <a:ext cx="48280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FNO: 37% lower mean error with 9× fewer parameters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Both error distributions are right-skewed: most samples &lt; 0.1, a small tail up to ~0.35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FNO's gain is in the bulk of the distribution; the worst-case errors of the two models are similar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FNO Predictions and a Failure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Best, median and worst test sample (rows)  -  κ | target | prediction | absolute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7498079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sample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60" y="1463040"/>
            <a:ext cx="6643919" cy="48920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46720" y="1371600"/>
            <a:ext cx="373075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273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Reading the 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33649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Best (sample 17): error 0.016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Median (sample 191): error 0.040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Worst (sample 95): error 0.347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The worst case has exactly uniform κ = 0.1: the FNO over-predicts the pressure amplitude.</a:t>
            </a:r>
          </a:p>
          <a:p>
            <a:pPr>
              <a:spcAft>
                <a:spcPts val="800"/>
              </a:spcAft>
              <a:defRPr sz="1400">
                <a:solidFill>
                  <a:srgbClr val="2C3E50"/>
                </a:solidFill>
                <a:latin typeface="Arial"/>
              </a:defRPr>
            </a:pPr>
            <a:r>
              <a:t>•  Only 2 of 200 test fields are uniform: a rare degenerate input, reported openly rather than excluded.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Issues Faced and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What we hit at this stage, and the plan for Stage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2 Interim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9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54583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Issues faced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08863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Metric convention: relative L2 must be computed in physical units, not on standardised fields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Uniform-κ samples: degenerate input; FNO over-predicts amplitude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Compute: 1.3 GB raw file and training moved to the lab GPU workstation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Run-to-run variance (~0.004): early runs were unseeded; now fixed, and only larger gaps are interpreted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1371600"/>
            <a:ext cx="554583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0236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Future work (Stage 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236" y="2011680"/>
            <a:ext cx="508863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FNO scaling study: larger width / modes / depth vs the baseline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Resolution generalisation: evaluate at native 128×128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Computational cost: speed vs the FDM solver; FNO operation profiling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Physical interpretation: error vs κ geometry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Learning-rate schedule comparison; final report, presentation, viva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51790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Real PDEBench pipeline complete: 900 / 100 / 200 split at 64×64; EDA and preprocessing ablation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8658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MLP (42 M) implemented and tuned by depth / optimiser / preprocessing ablations: mean rel. L2 0.082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0896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SciML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25526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FNO (4.7 M) implemented and trained: mean rel. L2 0.052, 37% lower with 9× fewer parameters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7764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12394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Worst FNO case is a degenerate uniform-κ field, not a complex 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4632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992624"/>
            <a:ext cx="9262872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Scaling study, resolution generalisation, cost analysis, physical interpretation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74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FFFFFF"/>
                </a:solidFill>
                <a:latin typeface="Arial"/>
              </a:defRPr>
            </a:pPr>
            <a:r>
              <a:t>Thank you  -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