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rial"/>
              </a:defRPr>
            </a:pPr>
            <a:r>
              <a:t>Fourier Neural Operator for</a:t>
            </a:r>
            <a:br/>
            <a:r>
              <a:t>Parametric Darcy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D6E4F0"/>
                </a:solidFill>
                <a:latin typeface="Arial"/>
              </a:defRPr>
            </a:pPr>
            <a:r>
              <a:t>AE646 Stage 2 (Interim)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Team: PINNacles (Aryamann Srivastava, Varun Sathaye, Atishay Jain, Vedant S. Tiwari)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Recap of the Parametric PDE Challenge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2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11365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2E4A"/>
                </a:solidFill>
                <a:latin typeface="Arial"/>
              </a:defRPr>
            </a:pPr>
            <a:r>
              <a:t>2D Darcy Flow Equation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14884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C3E50"/>
                </a:solidFill>
                <a:latin typeface="Arial"/>
              </a:defRPr>
            </a:pPr>
            <a:r>
              <a:t>-div(κ(x,y) ∇u(x,y)) = f(x,y)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8892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Goal: Learn the mapping from permeability field (κ) to pressure field (u).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24612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Traditional solvers (FDM/FEM) are too slow for repeated queries.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70332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Solution: Operator Learning (surrogate modelling).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Workflow: Data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Loading and Preprocessing (Completed)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3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11365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2E4A"/>
                </a:solidFill>
                <a:latin typeface="Arial"/>
              </a:defRPr>
            </a:pPr>
            <a:r>
              <a:t>Dataset Generation &amp; Loading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3172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Download: Acquired PDEBench 2D Darcy Flow (10,000 samples).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8892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Subsetting: Extracted 1,000 train/val samples and 200 test samples.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24612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Preprocessing: Downsampled train/val from 128x128 to 64x64.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70332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Spatial Features: Concatenated (x, y) coordinates to form (64, 64, 3) inputs.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052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Normalisation: Computed statistics strictly from the training set.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Workflow: Code &amp;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MLP Baseline and Initial SciML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4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11365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2E4A"/>
                </a:solidFill>
                <a:latin typeface="Arial"/>
              </a:defRPr>
            </a:pPr>
            <a:r>
              <a:t>MLP Baseline Implementation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4028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Architecture: Flattens input to 12,288 vector -&gt; 3x2048 hidden layers.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69748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Parameters: ~42.0 Million. No spatial inductive bias.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42900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2E4A"/>
                </a:solidFill>
                <a:latin typeface="Arial"/>
              </a:defRPr>
            </a:pPr>
            <a:r>
              <a:t>Fourier Neural Operator (SciML) 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7764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Architecture: Lift to 64 channels -&gt; 4 Spectral Convolutions (modes=12).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Forward Pass: FFT -&gt; Complex MatMul (frequency domain filtering) -&gt; IFFT.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89204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Parameters: ~4.7 Million (Highly parameter-efficient).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Preliminary Quantitative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Relative L2 Error Comparison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5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11365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2E4A"/>
                </a:solidFill>
                <a:latin typeface="Arial"/>
              </a:defRPr>
            </a:pPr>
            <a:r>
              <a:t>Model Performance (Physical Units)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3172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C3E50"/>
                </a:solidFill>
                <a:latin typeface="Arial"/>
              </a:defRPr>
            </a:pPr>
            <a:r>
              <a:t>MLP Baseline: Mean Rel L2 = 0.0820 (Params: 42.0M)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8036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8B4C"/>
                </a:solidFill>
                <a:latin typeface="Arial"/>
              </a:defRPr>
            </a:pPr>
            <a:r>
              <a:t>FNO Original: Mean Rel L2 = 0.0521 (Params: 4.7M)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42900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C3E50"/>
                </a:solidFill>
                <a:latin typeface="Arial"/>
              </a:defRPr>
            </a:pPr>
            <a:r>
              <a:t>FNO Improved: Mean Rel L2 = 0.0456 (Params: 78.8M)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6052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Arial"/>
              </a:defRPr>
            </a:pPr>
            <a:r>
              <a:t>Key Observations: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70916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FNO outperforms the MLP by a significant margin using 9x fewer parameters.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166359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Error histograms show FNO errors concentrated heavily below 0.1.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Interim Zero-Shot &amp; Speed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Super-resolution and Latency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6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11365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2E4A"/>
                </a:solidFill>
                <a:latin typeface="Arial"/>
              </a:defRPr>
            </a:pPr>
            <a:r>
              <a:t>Zero-Shot Super-Resolution (128x128)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3172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Evaluated models on the native 128x128 test set (without retraining).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8892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FNO maintained high accuracy (Rel L2 = 0.0594). MLP cannot perform this task.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1188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2E4A"/>
                </a:solidFill>
                <a:latin typeface="Arial"/>
              </a:defRPr>
            </a:pPr>
            <a:r>
              <a:t>Inference Latency (The Speed Paradox)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6052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Both AI models operate in ~1 ms (1000x faster than SciPy FDM solves).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61772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Interestingly, MLP is faster per-sample (0.13ms) than FNO (0.71ms).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07492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Layer-wise profiling: spectral ops (FFT+multiply+IFFT) = 68.4% of FNO's compute;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44068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  complex-multiply alone is 41.0% (the single largest component).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Issues Faced &amp;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Moving to Stage 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7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11365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2E4A"/>
                </a:solidFill>
                <a:latin typeface="Arial"/>
              </a:defRPr>
            </a:pPr>
            <a:r>
              <a:t>Issues &amp; Limitations Identified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3172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Issue: Near-uniform permeability samples cause model over-prediction.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8892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Cause: The dataset's Gaussian random field generation heavily favours blobby structures.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1188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2E4A"/>
                </a:solidFill>
                <a:latin typeface="Arial"/>
              </a:defRPr>
            </a:pPr>
            <a:r>
              <a:t>Next Steps for Stage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6052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Complete extensive hyperparameter ablations (modes, widths).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61772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Finalise quantitative plots (Efficiency Pareto Front, Error Distributions).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07492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Arial"/>
              </a:defRPr>
            </a:pPr>
            <a:r>
              <a:t>• Wrap up the Stage 3 Final Report with detailed physical interpretations.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88952" cy="64008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828800" cy="822960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600200"/>
            <a:ext cx="92628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6E4F0"/>
                </a:solidFill>
                <a:latin typeface="Arial"/>
              </a:defRPr>
            </a:pPr>
            <a:r>
              <a:t>Stage 2 implementation complete. Data pipeline and models validated.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828800" cy="822960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514600"/>
            <a:ext cx="92628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6E4F0"/>
                </a:solidFill>
                <a:latin typeface="Arial"/>
              </a:defRPr>
            </a:pPr>
            <a:r>
              <a:t>MLP implemented. Fast inference, but high error and no zero-shot.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00400"/>
            <a:ext cx="1828800" cy="822960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383280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SciML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29000"/>
            <a:ext cx="92628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6E4F0"/>
                </a:solidFill>
                <a:latin typeface="Arial"/>
              </a:defRPr>
            </a:pPr>
            <a:r>
              <a:t>FNO implemented. 37% lower error, fewer parameters, super-res capable.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114800"/>
            <a:ext cx="1828800" cy="822960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297680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Next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343400"/>
            <a:ext cx="92628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6E4F0"/>
                </a:solidFill>
                <a:latin typeface="Arial"/>
              </a:defRPr>
            </a:pPr>
            <a:r>
              <a:t>Hyperparameter ablation and final Stage 3 report formatting.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291072"/>
            <a:ext cx="12188952" cy="566928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1274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0">
                <a:solidFill>
                  <a:srgbClr val="FFFFFF"/>
                </a:solidFill>
                <a:latin typeface="Arial"/>
              </a:defRPr>
            </a:pPr>
            <a:r>
              <a:t>Thank you  - 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