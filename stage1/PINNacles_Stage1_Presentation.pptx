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36015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Fourier Neural Operator
for Parametric Darcy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D6E4F0"/>
                </a:solidFill>
                <a:latin typeface="Calibri"/>
              </a:rPr>
              <a:t>AE646: Scientific Machine Learning for Fluid Mechanics
Project Theme #8 - Operator Learning for Parametric PDEs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07408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86C1"/>
                </a:solidFill>
                <a:latin typeface="Calibri"/>
              </a:rPr>
              <a:t>Team PINNacles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Aryamann Srivastava  •  Varun Sathaye  •  Atishay Jain  •  Vedant S. Tiwari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60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  <a:latin typeface="Calibri"/>
              </a:rPr>
              <a:t>IIT Kanpur  |  Semester 2026–27-I  |  Dr. Sathesh Mariappan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2D Darcy flow - steady-state pressure in a heterogeneous porous medium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2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5591556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2704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The Governing Equation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938527"/>
            <a:ext cx="52623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4E79"/>
                </a:solidFill>
                <a:latin typeface="Calibri"/>
              </a:rPr>
              <a:t>−∇·( κ(x,y) ∇u(x,y) ) = f(x,y)   on (0,1)²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423160"/>
            <a:ext cx="52623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  <a:latin typeface="Calibri"/>
              </a:rPr>
              <a:t>u = 0 on boundary,   f = β =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07208"/>
            <a:ext cx="52623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D6D7E"/>
                </a:solidFill>
                <a:latin typeface="Calibri"/>
              </a:rPr>
              <a:t>κ(x,y) = permeability field   |   u(x,y) = pressure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5916" y="1417320"/>
            <a:ext cx="5591556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52704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6F1E"/>
                </a:solidFill>
                <a:latin typeface="Calibri"/>
              </a:rPr>
              <a:t>The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1938527"/>
            <a:ext cx="55915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Traditional solvers (FDM/FEM) re-solve for every new κ field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Each solve: ~1 second for a simple 2D case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Optimization or UQ needs thousands of solves → impractical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429000"/>
            <a:ext cx="11365992" cy="2926080"/>
          </a:xfrm>
          <a:prstGeom prst="rect">
            <a:avLst/>
          </a:prstGeom>
          <a:solidFill>
            <a:srgbClr val="D6E4F0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87368"/>
            <a:ext cx="1090879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E4A"/>
                </a:solidFill>
                <a:latin typeface="Calibri"/>
              </a:rPr>
              <a:t>Learn the solution operator  G : κ(x,y) → u(x,y)  once.
Evaluate any new permeability field in milliseconds - no re-solving needed.
Enables fast parametric studies, optimization, and uncertainty quantification.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PDEBench 2D Darcy Flow (β=1.0) - official, checksum-verified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5591556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2704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Official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947672"/>
            <a:ext cx="52623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DaRUS / University of Stuttgart
DOI: 10.18419/darus-2986
10,000 samples at native 128×128 resolution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1417320"/>
            <a:ext cx="5591556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508" y="152704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Our Reproducible Subset  (seed = 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508" y="1947672"/>
            <a:ext cx="52623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Train: 900 samples
Validation: 100 samples
Test: 200 samples (held out)
Main resolution: 64×64  (stride-2 downsample)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29000"/>
            <a:ext cx="3666744" cy="43891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02152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Permeability  κ(x,y)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67912"/>
            <a:ext cx="3666744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995928"/>
            <a:ext cx="3337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Piecewise-constant: values in {0.1, 1.0}
Generated by thresholding a smooth Gaussian random field at zero
Produces sharp-boundary blob patterns in 2D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3429000"/>
            <a:ext cx="3666744" cy="43891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3502152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Why 64×64?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1104" y="3867912"/>
            <a:ext cx="3666744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3995928"/>
            <a:ext cx="3337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Standard resolution for FNO Darcy experiments
Retains full PDE spatial structure
FNO can then be tested at 128×128 zero-shot - no retraining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0728" y="3429000"/>
            <a:ext cx="3666744" cy="438912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3502152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Super-Res Hold-out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3867912"/>
            <a:ext cx="3666744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995928"/>
            <a:ext cx="3337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200 test samples also kept at native 128×128
Used only for zero-shot evaluation
Never seen by the model during training in any 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Baseline Method: 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Dense fully-connected network - no spatial inductive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1365992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1563624"/>
            <a:ext cx="1380744" cy="71323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Input
64×64×3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5416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Flatten
→12,288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2048
+GELU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4104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4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2048
+GELU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3448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2048
+GELU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22792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4096
+Reshape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3536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32136" y="1563624"/>
            <a:ext cx="1380744" cy="71323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32136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Output
64×64×1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514600"/>
            <a:ext cx="5591556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262432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Architecture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044952"/>
            <a:ext cx="55915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42.0M trainable parameters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Input: [permeability, x_coord, y_coord] - 3 channels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3 hidden layers × 2048 units, GELU activation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Output: flat 64×64, reshaped to grid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5916" y="2514600"/>
            <a:ext cx="5591556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0508" y="262432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6F1E"/>
                </a:solidFill>
                <a:latin typeface="Calibri"/>
              </a:rPr>
              <a:t>Why This as Baseline?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5916" y="3044952"/>
            <a:ext cx="55915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Treats all 4096 output pixels independently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No spatial locality or translation equivariance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Fixed 64×64 I/O - cannot evaluate at any other resolution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Establishes a clear performance floor for comparison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120640"/>
            <a:ext cx="11365992" cy="1325880"/>
          </a:xfrm>
          <a:prstGeom prst="rect">
            <a:avLst/>
          </a:prstGeom>
          <a:solidFill>
            <a:srgbClr val="D6E4F0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21808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E4A"/>
                </a:solidFill>
                <a:latin typeface="Calibri"/>
              </a:rPr>
              <a:t>Key limitation:  the MLP has hard-coded 64×64 input/output dimensions - it cannot be evaluated zero-shot at any other resolution. This is in direct contrast to the FNO.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Proposed SciML Method: Fourier Neural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Operator learning via spectral convolutions - resolution-invariant by construction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1365992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1563624"/>
            <a:ext cx="1648968" cy="71323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Input
64×64×3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5040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3640" y="1563624"/>
            <a:ext cx="1648968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3640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Lift
3→64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2608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1208" y="1563624"/>
            <a:ext cx="1648968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1208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SpectralConv
Block ×4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563624"/>
            <a:ext cx="1648968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FFT→W→IFFT
+Conv1×1
+LN+GELU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7744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6344" y="1563624"/>
            <a:ext cx="1648968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6344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Project
64→128→1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5312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3912" y="1563624"/>
            <a:ext cx="1648968" cy="71323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3912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Output
64×64×1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514600"/>
            <a:ext cx="5910315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624328"/>
            <a:ext cx="55811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How Spectral Convolution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10896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1.  Apply 2D FFT  →  frequency domain representation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74904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2.  Keep only the lowest 12×12 Fourier modes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8912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3.  Multiply by learned complex weights (learning in Fourier space)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4.  Inverse FFT  →  back to physical 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5.  Add 1×1 Conv bypass, normalize, activate (GELU)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4675" y="2514600"/>
            <a:ext cx="5272796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69267" y="2624328"/>
            <a:ext cx="49436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  <a:latin typeface="Calibri"/>
              </a:rPr>
              <a:t>Key 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4675" y="3044952"/>
            <a:ext cx="527279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4.7M parameters - 8.8× fewer than MLP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Resolution-invariant: weights don't depend on grid size</a:t>
            </a:r>
          </a:p>
          <a:p>
            <a:pPr lvl="1"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◦  → Evaluates at 128×128 zero-shot, no retraining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Spectral inductive bias: Darcy pressure is low-frequency dominated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We also plan to train a larger config:</a:t>
            </a:r>
          </a:p>
          <a:p>
            <a:pPr lvl="1"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◦  → width=128, modes=20, 6 layers - 78.8M params</a:t>
            </a:r>
          </a:p>
          <a:p>
            <a:pPr lvl="1"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◦  → Will study accuracy vs parameter-count trade-off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Evaluation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Metrics, expected results, and planned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6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1365992" cy="868680"/>
          </a:xfrm>
          <a:prstGeom prst="rect">
            <a:avLst/>
          </a:prstGeom>
          <a:solidFill>
            <a:srgbClr val="D6E4F0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E4A"/>
                </a:solidFill>
                <a:latin typeface="Calibri"/>
              </a:rPr>
              <a:t>Primary Metric - Relative L2 Error (physical units)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11096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‖ prediction − truth ‖₂ / ‖ truth ‖₂   computed after denormalizing to physical pressure 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2704338" cy="43891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50592"/>
            <a:ext cx="24300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Relative L2 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16352"/>
            <a:ext cx="2704338" cy="2075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962656"/>
            <a:ext cx="237515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Mean / median / std /
min / max across all
200 test samples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8698" y="2377440"/>
            <a:ext cx="2704338" cy="43891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5858" y="2450592"/>
            <a:ext cx="24300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Zero-Shot Super-Res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8698" y="2816352"/>
            <a:ext cx="2704338" cy="2075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3290" y="2962656"/>
            <a:ext cx="237515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FNO at native 128×128
vs real PDEBench ground
truth - no retraining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5916" y="2377440"/>
            <a:ext cx="2704338" cy="438912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3076" y="2450592"/>
            <a:ext cx="24300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Inference Speed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5916" y="2816352"/>
            <a:ext cx="2704338" cy="2075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508" y="2962656"/>
            <a:ext cx="237515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Wall-clock time vs FDM
numerical solver -
measured, not asserted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73134" y="2377440"/>
            <a:ext cx="2704338" cy="43891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50592"/>
            <a:ext cx="24300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Qualitative Plots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3134" y="2816352"/>
            <a:ext cx="2704338" cy="2075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7726" y="2962656"/>
            <a:ext cx="237515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κ input | target u |
prediction | absolute
error maps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983480"/>
            <a:ext cx="11365992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093208"/>
            <a:ext cx="11036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Literature Reference &amp; Expected 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5513832"/>
            <a:ext cx="110368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Li et al. 2021 (original FNO paper) reports ~0.01–0.02 relative L2 on Darcy flow. Their dataset uses smooth, continuous log-permeability (κ = exp(GRF)). PDEBench uses piecewise-constant κ ∈ {0.1, 1.0} - sharper interfaces, a harder variant. Some deviation from the literature number is expected and will be discussed.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Expected Figures &amp;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Planned deliverables for Stage 2 and Stage 3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126894" cy="6217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508760"/>
            <a:ext cx="190743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 Error Histograms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39112"/>
            <a:ext cx="2126894" cy="440740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039112"/>
            <a:ext cx="2126894" cy="54864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30552"/>
            <a:ext cx="185257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Per-sample relative L2 for FNO original, FNO improved, and MLP baseline.
Reveals mean, median, and tail behaviour.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185257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X-axis: relative L2 error
Y-axis: sample count
One histogram per model, overlaid for direct comparison.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1254" y="1417320"/>
            <a:ext cx="2126894" cy="62179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0982" y="1508760"/>
            <a:ext cx="190743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 Sample Predictions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21254" y="2039112"/>
            <a:ext cx="2126894" cy="440740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21254" y="2039112"/>
            <a:ext cx="2126894" cy="54864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8414" y="2130552"/>
            <a:ext cx="185257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Side-by-side: κ input, target u, FNO prediction, absolute error.
Shown for several representative test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8414" y="4416552"/>
            <a:ext cx="185257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4-panel grid per sample.
Selected cases include easy, medium, and hard permeability patterns.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1028" y="1417320"/>
            <a:ext cx="2126894" cy="62179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0756" y="1508760"/>
            <a:ext cx="190743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 Comparison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1028" y="2039112"/>
            <a:ext cx="2126894" cy="440740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1028" y="2039112"/>
            <a:ext cx="2126894" cy="54864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8188" y="2130552"/>
            <a:ext cx="185257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Rel L2 (mean/median), parameter count, and inference time for all three models in one 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8188" y="4416552"/>
            <a:ext cx="185257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Rows: MLP, FNO original, FNO improved.
Columns: Rel L2 mean, Rel L2 median, params, ms/sample.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0803" y="1417320"/>
            <a:ext cx="2126894" cy="621792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0531" y="1508760"/>
            <a:ext cx="190743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4.  Zero-Shot Super-Res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40803" y="2039112"/>
            <a:ext cx="2126894" cy="440740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0803" y="2039112"/>
            <a:ext cx="2126894" cy="54864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7963" y="2130552"/>
            <a:ext cx="185257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FNO evaluated at native 128x128 vs PDEBench ground truth. No retraining - validates resolution-invariance.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7963" y="4416552"/>
            <a:ext cx="185257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MLP cannot do this (fixed I/O size).
FNO tested at 64x64 (train res) and 128x128 (zero-shot).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50577" y="1417320"/>
            <a:ext cx="2126894" cy="62179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60305" y="1508760"/>
            <a:ext cx="190743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5.  Efficiency Scatter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50577" y="2039112"/>
            <a:ext cx="2126894" cy="440740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50577" y="2039112"/>
            <a:ext cx="2126894" cy="54864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7737" y="2130552"/>
            <a:ext cx="185257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Rel L2 vs parameter count - one point per model. Shows the accuracy vs model-size trade-off.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7737" y="4416552"/>
            <a:ext cx="185257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We expect FNO lower-left (fewer params, lower error).
MLP expected upper-right - more parameters, likely higher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Work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Three-stage project timeline - Stage 1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3666744" cy="502920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1527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✓  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3666744" cy="594360"/>
          </a:xfrm>
          <a:prstGeom prst="rect">
            <a:avLst/>
          </a:prstGeom>
          <a:solidFill>
            <a:srgbClr val="D6E4F0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75104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Project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49424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Due: Aug 27,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14600"/>
            <a:ext cx="3666744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6791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✓  Confirm PDEBench as dataset (source verified)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5935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✓  Finalize MLP and FNO architecture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5079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✓  Define evaluation methodology and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4223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✓  Submit proposal PDF and 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1104" y="1417320"/>
            <a:ext cx="3666744" cy="502920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1527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UPCOMING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920240"/>
            <a:ext cx="3666744" cy="594360"/>
          </a:xfrm>
          <a:prstGeom prst="rect">
            <a:avLst/>
          </a:prstGeom>
          <a:solidFill>
            <a:srgbClr val="D6E4F0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8264" y="1975104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Implementation &amp; Interim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249424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Due: Sep 8,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1104" y="2514600"/>
            <a:ext cx="3666744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26791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Set up data download and preprocessing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35935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Implement and train MLP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45079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Implement and train FNO (original config)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54223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Gather preliminary results and plots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417320"/>
            <a:ext cx="3666744" cy="502920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1527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0728" y="1920240"/>
            <a:ext cx="3666744" cy="594360"/>
          </a:xfrm>
          <a:prstGeom prst="rect">
            <a:avLst/>
          </a:prstGeom>
          <a:solidFill>
            <a:srgbClr val="D6E4F0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1975104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Final Report, Code &amp; Viva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2249424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Due: Nov 13,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0728" y="2514600"/>
            <a:ext cx="3666744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6791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Train improved FNO (width=128, modes=20)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5935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Zero-shot super-resolution at 128×128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5079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Inference speed benchmark vs FDM solver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4223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Final report, code submission, viva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Individual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Team PINNacles - Group of 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704338" cy="777240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90472"/>
            <a:ext cx="27043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Aryamann
Srivastava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94560"/>
            <a:ext cx="2704338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Model implementation (FNO and MLP)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358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Training and evaluation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216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Data download and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074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Benchmarks and report drafting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8698" y="1417320"/>
            <a:ext cx="2704338" cy="777240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8698" y="1490472"/>
            <a:ext cx="27043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Varun
Sathaye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8698" y="2194560"/>
            <a:ext cx="2704338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5858" y="23500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Literature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5858" y="30358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Baseline model 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5858" y="37216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Error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5858" y="44074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Formatting deliverables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5916" y="1417320"/>
            <a:ext cx="2704338" cy="777240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5916" y="1490472"/>
            <a:ext cx="27043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Atishay
Jain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5916" y="2194560"/>
            <a:ext cx="2704338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3076" y="23500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Data visualization and plotting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3076" y="30358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Error distribution figures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3076" y="37216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Field comparison plots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3076" y="44074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Slide preparation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3134" y="1417320"/>
            <a:ext cx="2704338" cy="777240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3134" y="1490472"/>
            <a:ext cx="27043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Vedant S.
Tiwari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73134" y="2194560"/>
            <a:ext cx="2704338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0294" y="23500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Zero-shot super-res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0294" y="30358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Speed benchmarking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0294" y="37216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Cross-checking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0294" y="44074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Proofreading final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20640"/>
            <a:ext cx="11365992" cy="1234440"/>
          </a:xfrm>
          <a:prstGeom prst="rect">
            <a:avLst/>
          </a:prstGeom>
          <a:solidFill>
            <a:srgbClr val="D6E4F0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2303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E4A"/>
                </a:solidFill>
                <a:latin typeface="Calibri"/>
              </a:rPr>
              <a:t>AI Tool Use Declaration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23560"/>
            <a:ext cx="109087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Claude / ChatGPT used for conceptual understanding, coding assistance, debugging, and report drafting. All output inspected, verified, and fully understood by the team before submission - in accordance with AE646's academic integrity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64008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16736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35024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2D Darcy flow - learn G: κ → u to replace repeated PDE solves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03120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Real PDEBench 2D Darcy (β=1.0)  |  900 / 100 / 200 split at 64×64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71216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MLP (42M params) - no spatial inductive bias, fixed 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57016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21024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SciML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39312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FNO (4.7M params) - spectral convolutions, resolution-invariant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25112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Extended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407408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Larger FNO (78.8M params) - accuracy vs parameter-count trade-off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93208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57216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175504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Rel L2 error  |  zero-shot super-res at 128×128  |  speed vs FDM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1274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  <a:latin typeface="Calibri"/>
              </a:rPr>
              <a:t>Thank you  -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