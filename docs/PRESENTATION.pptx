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96596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SCIENTIFIC MACHINE LEARNING — FINAL PROJECT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822960" y="2423160"/>
            <a:ext cx="105156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Fourier Neural Operator for</a:t>
            </a:r>
            <a:endParaRPr lang="en-US" sz="42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Parametric Darcy Flow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822960" y="4434840"/>
            <a:ext cx="10515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AE646: Scientific Machine Learning for Fluid Mechanics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822960" y="489204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FB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Aryaman Srivastava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10058400" y="-1463040"/>
            <a:ext cx="4206240" cy="4206240"/>
          </a:xfrm>
          <a:prstGeom prst="ellipse">
            <a:avLst/>
          </a:prstGeom>
          <a:solidFill>
            <a:srgbClr val="273775"/>
          </a:solidFill>
          <a:ln w="12700">
            <a:solidFill>
              <a:srgbClr val="27377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972800" y="5120640"/>
            <a:ext cx="2926080" cy="2926080"/>
          </a:xfrm>
          <a:prstGeom prst="ellipse">
            <a:avLst/>
          </a:prstGeom>
          <a:solidFill>
            <a:srgbClr val="273775"/>
          </a:solidFill>
          <a:ln w="12700">
            <a:solidFill>
              <a:srgbClr val="273775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PARAMETRIC PDES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Problem &amp; Motivation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AE646 — Fourier Neural Operator for Parametric Darcy Flow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1417320"/>
            <a:ext cx="5394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PARAMETRIC PDE CHALLENGE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48640" y="1783080"/>
            <a:ext cx="53949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Darcy flow: −∇·(κ∇u) = f, with κ piecewise-constant in {0.1, 1.0}</a:t>
            </a:r>
            <a:endParaRPr lang="en-US" sz="1500" dirty="0"/>
          </a:p>
          <a:p>
            <a:pPr marL="228600" indent="-2286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PDEBench data: 1000 train/val, 200 test (of 10,000 total, seed=42 subset)</a:t>
            </a:r>
            <a:endParaRPr lang="en-US" sz="1500" dirty="0"/>
          </a:p>
          <a:p>
            <a:pPr marL="228600" indent="-2286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 a fast surrogate for optimization, UQ, inverse problems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309360" y="1417320"/>
            <a:ext cx="5394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OPERATOR LEARNING?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309360" y="1783080"/>
            <a:ext cx="53949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 solvers: re-mesh + re-solve per parameter (slow — see slide 10)</a:t>
            </a:r>
            <a:endParaRPr lang="en-US" sz="1500" dirty="0"/>
          </a:p>
          <a:p>
            <a:pPr marL="228600" indent="-2286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FNO/DeepONet: learn G: κ → u once, evaluate in ~1 ms</a:t>
            </a:r>
            <a:endParaRPr lang="en-US" sz="1500" dirty="0"/>
          </a:p>
          <a:p>
            <a:pPr marL="228600" indent="-2286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Zero-shot super-resolution: train at 64×64, test at PDEBench's real native 128×128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989320" y="1463040"/>
            <a:ext cx="0" cy="2651760"/>
          </a:xfrm>
          <a:prstGeom prst="line">
            <a:avLst/>
          </a:prstGeom>
          <a:noFill/>
          <a:ln w="12700">
            <a:solidFill>
              <a:srgbClr val="E3E7F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48640" y="4709160"/>
            <a:ext cx="3383280" cy="1417320"/>
          </a:xfrm>
          <a:prstGeom prst="roundRect">
            <a:avLst>
              <a:gd name="adj" fmla="val 5161"/>
            </a:avLst>
          </a:prstGeom>
          <a:solidFill>
            <a:srgbClr val="F4F6FC"/>
          </a:solidFill>
          <a:ln w="12700">
            <a:solidFill>
              <a:srgbClr val="F4F6FC"/>
            </a:solidFill>
            <a:prstDash val="solid"/>
          </a:ln>
          <a:effectLst>
            <a:outerShdw sx="100000" sy="100000" kx="0" ky="0" algn="bl" rotWithShape="0" blurRad="76200" dist="25400" dir="5400000">
              <a:srgbClr val="888888">
                <a:alpha val="2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85800" y="4818888"/>
            <a:ext cx="3108960" cy="82204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-∇·(κ∇u)=f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640080" y="5587898"/>
            <a:ext cx="3200400" cy="4960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Steady-state Darcy flow equation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4160520" y="4709160"/>
            <a:ext cx="3383280" cy="1417320"/>
          </a:xfrm>
          <a:prstGeom prst="roundRect">
            <a:avLst>
              <a:gd name="adj" fmla="val 5161"/>
            </a:avLst>
          </a:prstGeom>
          <a:solidFill>
            <a:srgbClr val="F4F6FC"/>
          </a:solidFill>
          <a:ln w="12700">
            <a:solidFill>
              <a:srgbClr val="F4F6FC"/>
            </a:solidFill>
            <a:prstDash val="solid"/>
          </a:ln>
          <a:effectLst>
            <a:outerShdw sx="100000" sy="100000" kx="0" ky="0" algn="bl" rotWithShape="0" blurRad="76200" dist="25400" dir="5400000">
              <a:srgbClr val="888888">
                <a:alpha val="2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297680" y="4818888"/>
            <a:ext cx="3108960" cy="82204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10,000</a:t>
            </a:r>
            <a:endParaRPr lang="en-US" sz="3000" dirty="0"/>
          </a:p>
        </p:txBody>
      </p:sp>
      <p:sp>
        <p:nvSpPr>
          <p:cNvPr id="16" name="Text 14"/>
          <p:cNvSpPr/>
          <p:nvPr/>
        </p:nvSpPr>
        <p:spPr>
          <a:xfrm>
            <a:off x="4251960" y="5587898"/>
            <a:ext cx="3200400" cy="4960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PDEBench samples (128×128)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7772400" y="4709160"/>
            <a:ext cx="3840480" cy="1417320"/>
          </a:xfrm>
          <a:prstGeom prst="roundRect">
            <a:avLst>
              <a:gd name="adj" fmla="val 5161"/>
            </a:avLst>
          </a:prstGeom>
          <a:solidFill>
            <a:srgbClr val="F4F6FC"/>
          </a:solidFill>
          <a:ln w="12700">
            <a:solidFill>
              <a:srgbClr val="F4F6FC"/>
            </a:solidFill>
            <a:prstDash val="solid"/>
          </a:ln>
          <a:effectLst>
            <a:outerShdw sx="100000" sy="100000" kx="0" ky="0" algn="bl" rotWithShape="0" blurRad="76200" dist="25400" dir="5400000">
              <a:srgbClr val="888888">
                <a:alpha val="2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7909560" y="4818888"/>
            <a:ext cx="3566160" cy="82204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 models</a:t>
            </a:r>
            <a:endParaRPr lang="en-US" sz="3000" dirty="0"/>
          </a:p>
        </p:txBody>
      </p:sp>
      <p:sp>
        <p:nvSpPr>
          <p:cNvPr id="19" name="Text 17"/>
          <p:cNvSpPr/>
          <p:nvPr/>
        </p:nvSpPr>
        <p:spPr>
          <a:xfrm>
            <a:off x="7863840" y="5587898"/>
            <a:ext cx="3657600" cy="4960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FNO (spectral) vs MLP (dense) baseline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SETUP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Dataset &amp; Baseline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AE646 — Fourier Neural Operator for Parametric Darcy Flow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141732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PDEBENCH 2D DARCY FLOW (β=1.0)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48640" y="1783080"/>
            <a:ext cx="110642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Downloaded from the official source, verified by checksum against PDEBench's manifest</a:t>
            </a:r>
            <a:endParaRPr lang="en-US" sz="1500" dirty="0"/>
          </a:p>
          <a:p>
            <a:pPr marL="228600" indent="-2286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900 train / 100 val / 200 test, 64×64 (downsampled from native 128×128)</a:t>
            </a:r>
            <a:endParaRPr lang="en-US" sz="1500" dirty="0"/>
          </a:p>
          <a:p>
            <a:pPr marL="228600" indent="-2286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Piecewise-constant permeability (κ ∈ {0.1, 1.0}) from a thresholded Gaussian random field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48640" y="3703320"/>
            <a:ext cx="11091672" cy="2377440"/>
          </a:xfrm>
          <a:prstGeom prst="roundRect">
            <a:avLst>
              <a:gd name="adj" fmla="val 2308"/>
            </a:avLst>
          </a:prstGeom>
          <a:solidFill>
            <a:srgbClr val="F4F6FC"/>
          </a:solidFill>
          <a:ln w="12700">
            <a:solidFill>
              <a:srgbClr val="F4F6F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39319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BASELINE: MLP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914400" y="4297680"/>
            <a:ext cx="51206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Flatten 64×64×3 → 3×2048 hidden layers → flatten output</a:t>
            </a:r>
            <a:endParaRPr lang="en-US" sz="1450" dirty="0"/>
          </a:p>
          <a:p>
            <a:pPr marL="228600" indent="-2286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42.0M parameters</a:t>
            </a:r>
            <a:endParaRPr lang="en-US" sz="1450" dirty="0"/>
          </a:p>
          <a:p>
            <a:pPr marL="228600" indent="-2286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spatial inductive bias — treats the field as a dense vector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6080760" y="3931920"/>
            <a:ext cx="0" cy="1920240"/>
          </a:xfrm>
          <a:prstGeom prst="line">
            <a:avLst/>
          </a:prstGeom>
          <a:noFill/>
          <a:ln w="12700">
            <a:solidFill>
              <a:srgbClr val="D8DEE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355080" y="393192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dataset?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355080" y="4297680"/>
            <a:ext cx="49377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PDEBench is the handout's own suggested source for this project theme (operator learning for parametric PDEs) — a peer-reviewed, real 10,000-sample benchmark, not a hand-generated stand-in.</a:t>
            </a:r>
            <a:endParaRPr lang="en-US" sz="13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Fourier Neural Operator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AE646 — Fourier Neural Operator for Parametric Darcy Flow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1417320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1755648"/>
            <a:ext cx="11091672" cy="777240"/>
          </a:xfrm>
          <a:prstGeom prst="roundRect">
            <a:avLst>
              <a:gd name="adj" fmla="val 7059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1755648"/>
            <a:ext cx="11091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Input (3 ch)  →  Lift  →  4× SpectralConv + 1×1 Conv + LayerNorm + GELU  →  Project  →  Output (1 ch)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548640" y="278892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SPECTRAL CONVOLUTION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48640" y="3154680"/>
            <a:ext cx="54864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FFT → multiply learned weights in Fourier space → IFFT</a:t>
            </a:r>
            <a:endParaRPr lang="en-US" sz="1450" dirty="0"/>
          </a:p>
          <a:p>
            <a:pPr marL="228600" indent="-2286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Keeps only low-frequency modes (modes=12)</a:t>
            </a:r>
            <a:endParaRPr lang="en-US" sz="1450" dirty="0"/>
          </a:p>
          <a:p>
            <a:pPr marL="228600" indent="-2286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Resolution-invariant by construction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6355080" y="2788920"/>
            <a:ext cx="2468880" cy="1737360"/>
          </a:xfrm>
          <a:prstGeom prst="roundRect">
            <a:avLst>
              <a:gd name="adj" fmla="val 4211"/>
            </a:avLst>
          </a:prstGeom>
          <a:solidFill>
            <a:srgbClr val="F4F6FC"/>
          </a:solidFill>
          <a:ln w="12700">
            <a:solidFill>
              <a:srgbClr val="F4F6FC"/>
            </a:solidFill>
            <a:prstDash val="solid"/>
          </a:ln>
          <a:effectLst>
            <a:outerShdw sx="100000" sy="100000" kx="0" ky="0" algn="bl" rotWithShape="0" blurRad="76200" dist="25400" dir="5400000">
              <a:srgbClr val="888888">
                <a:alpha val="25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492240" y="2898648"/>
            <a:ext cx="2194560" cy="1007669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4.7M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6446520" y="3866083"/>
            <a:ext cx="2286000" cy="6080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FNO parameters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9006840" y="2788920"/>
            <a:ext cx="2651760" cy="1737360"/>
          </a:xfrm>
          <a:prstGeom prst="roundRect">
            <a:avLst>
              <a:gd name="adj" fmla="val 4211"/>
            </a:avLst>
          </a:prstGeom>
          <a:solidFill>
            <a:srgbClr val="F4F6FC"/>
          </a:solidFill>
          <a:ln w="12700">
            <a:solidFill>
              <a:srgbClr val="F4F6FC"/>
            </a:solidFill>
            <a:prstDash val="solid"/>
          </a:ln>
          <a:effectLst>
            <a:outerShdw sx="100000" sy="100000" kx="0" ky="0" algn="bl" rotWithShape="0" blurRad="76200" dist="25400" dir="5400000">
              <a:srgbClr val="888888">
                <a:alpha val="2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9144000" y="2898648"/>
            <a:ext cx="2377440" cy="1007669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66666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42.0M</a:t>
            </a:r>
            <a:endParaRPr lang="en-US" sz="3000" dirty="0"/>
          </a:p>
        </p:txBody>
      </p:sp>
      <p:sp>
        <p:nvSpPr>
          <p:cNvPr id="16" name="Text 14"/>
          <p:cNvSpPr/>
          <p:nvPr/>
        </p:nvSpPr>
        <p:spPr>
          <a:xfrm>
            <a:off x="9098280" y="3866083"/>
            <a:ext cx="2468880" cy="6080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MLP parameters (baseline)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6355080" y="4709160"/>
            <a:ext cx="5303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FNO matches or beats the MLP with 8.8× fewer parameters — see next slide.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HEADLINE NUMBERS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Results Summary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AE646 — Fourier Neural Operator for Parametric Darcy Flow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" y="1600200"/>
          <a:ext cx="10515600" cy="914400"/>
        </p:xfrm>
        <a:graphic>
          <a:graphicData uri="http://schemas.openxmlformats.org/drawingml/2006/table">
            <a:tbl>
              <a:tblPr/>
              <a:tblGrid>
                <a:gridCol w="4663440"/>
                <a:gridCol w="3383280"/>
                <a:gridCol w="2468880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 Mean Rel L2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Parameters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FNO (original)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0.0521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4.7M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MLP baseline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0.0820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42.0M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FNO (improved)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0.0456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78.8M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C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822960" y="3977640"/>
            <a:ext cx="3383280" cy="1508760"/>
          </a:xfrm>
          <a:prstGeom prst="roundRect">
            <a:avLst>
              <a:gd name="adj" fmla="val 4848"/>
            </a:avLst>
          </a:prstGeom>
          <a:solidFill>
            <a:srgbClr val="F4F6FC"/>
          </a:solidFill>
          <a:ln w="12700">
            <a:solidFill>
              <a:srgbClr val="F4F6FC"/>
            </a:solidFill>
            <a:prstDash val="solid"/>
          </a:ln>
          <a:effectLst>
            <a:outerShdw sx="100000" sy="100000" kx="0" ky="0" algn="bl" rotWithShape="0" blurRad="76200" dist="25400" dir="5400000">
              <a:srgbClr val="888888">
                <a:alpha val="25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960120" y="4087368"/>
            <a:ext cx="3108960" cy="875081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E7F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36%</a:t>
            </a:r>
            <a:endParaRPr lang="en-US" sz="3000" dirty="0"/>
          </a:p>
        </p:txBody>
      </p:sp>
      <p:sp>
        <p:nvSpPr>
          <p:cNvPr id="9" name="Text 6"/>
          <p:cNvSpPr/>
          <p:nvPr/>
        </p:nvSpPr>
        <p:spPr>
          <a:xfrm>
            <a:off x="914400" y="4913071"/>
            <a:ext cx="3200400" cy="5280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 error vs MLP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4434840" y="3977640"/>
            <a:ext cx="3383280" cy="1508760"/>
          </a:xfrm>
          <a:prstGeom prst="roundRect">
            <a:avLst>
              <a:gd name="adj" fmla="val 4848"/>
            </a:avLst>
          </a:prstGeom>
          <a:solidFill>
            <a:srgbClr val="F4F6FC"/>
          </a:solidFill>
          <a:ln w="12700">
            <a:solidFill>
              <a:srgbClr val="F4F6FC"/>
            </a:solidFill>
            <a:prstDash val="solid"/>
          </a:ln>
          <a:effectLst>
            <a:outerShdw sx="100000" sy="100000" kx="0" ky="0" algn="bl" rotWithShape="0" blurRad="76200" dist="25400" dir="5400000">
              <a:srgbClr val="888888">
                <a:alpha val="25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4572000" y="4087368"/>
            <a:ext cx="3108960" cy="875081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E7F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8.8×</a:t>
            </a:r>
            <a:endParaRPr lang="en-US" sz="3000" dirty="0"/>
          </a:p>
        </p:txBody>
      </p:sp>
      <p:sp>
        <p:nvSpPr>
          <p:cNvPr id="12" name="Text 9"/>
          <p:cNvSpPr/>
          <p:nvPr/>
        </p:nvSpPr>
        <p:spPr>
          <a:xfrm>
            <a:off x="4526280" y="4913071"/>
            <a:ext cx="3200400" cy="5280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fewer parameters than MLP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8046720" y="3977640"/>
            <a:ext cx="3291840" cy="1508760"/>
          </a:xfrm>
          <a:prstGeom prst="roundRect">
            <a:avLst>
              <a:gd name="adj" fmla="val 4848"/>
            </a:avLst>
          </a:prstGeom>
          <a:solidFill>
            <a:srgbClr val="F4F6FC"/>
          </a:solidFill>
          <a:ln w="12700">
            <a:solidFill>
              <a:srgbClr val="F4F6FC"/>
            </a:solidFill>
            <a:prstDash val="solid"/>
          </a:ln>
          <a:effectLst>
            <a:outerShdw sx="100000" sy="100000" kx="0" ky="0" algn="bl" rotWithShape="0" blurRad="76200" dist="25400" dir="5400000">
              <a:srgbClr val="888888">
                <a:alpha val="25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8183880" y="4087368"/>
            <a:ext cx="3017520" cy="875081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12.6%</a:t>
            </a:r>
            <a:endParaRPr lang="en-US" sz="3000" dirty="0"/>
          </a:p>
        </p:txBody>
      </p:sp>
      <p:sp>
        <p:nvSpPr>
          <p:cNvPr id="15" name="Text 12"/>
          <p:cNvSpPr/>
          <p:nvPr/>
        </p:nvSpPr>
        <p:spPr>
          <a:xfrm>
            <a:off x="8138160" y="4913071"/>
            <a:ext cx="3108960" cy="5280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further gain from more capacity</a:t>
            </a:r>
            <a:endParaRPr lang="en-US" sz="1150" dirty="0"/>
          </a:p>
        </p:txBody>
      </p:sp>
      <p:sp>
        <p:nvSpPr>
          <p:cNvPr id="16" name="Text 13"/>
          <p:cNvSpPr/>
          <p:nvPr/>
        </p:nvSpPr>
        <p:spPr>
          <a:xfrm>
            <a:off x="822960" y="571500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FNO: 36% lower error than MLP, using 8.8× fewer parameters.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DIAGNOSTICS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Error Distributions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AE646 — Fourier Neural Operator for Parametric Darcy Flow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  <p:pic>
        <p:nvPicPr>
          <p:cNvPr id="6" name="Image 0" descr="/Users/aryamannsrivastava/Desktop/sem7/AE646-PINNacles/results/comprehensive_comparis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75662" y="1463040"/>
            <a:ext cx="5640372" cy="37490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234440" y="5376672"/>
            <a:ext cx="97200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15000"/>
              </a:lnSpc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FNO and MLP show a similar error spread (std ≈ 0.045), but FNO sits at a lower mean/median</a:t>
            </a:r>
            <a:endParaRPr lang="en-US" sz="1250" dirty="0"/>
          </a:p>
          <a:p>
            <a:pPr marL="228600" indent="-228600">
              <a:lnSpc>
                <a:spcPct val="115000"/>
              </a:lnSpc>
              <a:spcAft>
                <a:spcPts val="400"/>
              </a:spcAft>
              <a:buSzPct val="100000"/>
              <a:buChar char="•"/>
            </a:pPr>
            <a:r>
              <a:rPr lang="en-US" sz="12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models' worst cases come from the same kind of input (near-uniform permeability, slide 9) — a genuinely hard case, not a model-specific failure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Sample Predictions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863840" y="310896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Permeability input  ·  Target pressure  ·  FNO prediction  ·  Absolute error</a:t>
            </a:r>
            <a:endParaRPr lang="en-US" sz="1150" dirty="0"/>
          </a:p>
        </p:txBody>
      </p:sp>
      <p:pic>
        <p:nvPicPr>
          <p:cNvPr id="4" name="Image 0" descr="/Users/aryamannsrivastava/Desktop/sem7/AE646-PINNacles/results/run_001/evaluation/sample_prediction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662145" y="777240"/>
            <a:ext cx="2867406" cy="56235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AE646 — Fourier Neural Operator for Parametric Darcy Flow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RESOLUTION INVARIANCE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Zero-Shot Super-Resolution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AE646 — Fourier Neural Operator for Parametric Darcy Flow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141732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i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Trained at 64×64. Evaluated at PDEBench's real native 128×128 — no retraining.</a:t>
            </a:r>
            <a:endParaRPr lang="en-US" sz="145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011680"/>
          <a:ext cx="11091672" cy="914400"/>
        </p:xfrm>
        <a:graphic>
          <a:graphicData uri="http://schemas.openxmlformats.org/drawingml/2006/table">
            <a:tbl>
              <a:tblPr/>
              <a:tblGrid>
                <a:gridCol w="3200400"/>
                <a:gridCol w="2651760"/>
                <a:gridCol w="2770632"/>
                <a:gridCol w="2468880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64×64 (train)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128×128 (zero-shot)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Relative increase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50" b="1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FNO (original)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0.0521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0.0594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5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+14.0%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50" b="1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FNO (improved)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0.0456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0.0563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5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+23.5%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548640" y="3749040"/>
            <a:ext cx="11091672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FNOs evaluate on a resolution with 4× as many pixels, without retraining</a:t>
            </a:r>
            <a:endParaRPr lang="en-US" sz="1500" dirty="0"/>
          </a:p>
          <a:p>
            <a:pPr marL="228600" indent="-2286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improved FNO degrades more in relative terms — consistent with its larger capacity fitting some 64×64-specific discretization detail more tightly</a:t>
            </a:r>
            <a:endParaRPr lang="en-US" sz="1500" dirty="0"/>
          </a:p>
          <a:p>
            <a:pPr marL="228600" indent="-2286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MLP cannot do this at all — fixed input dimension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PHYSICAL INTERPRETATION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Genuine Failure Mode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AE646 — Fourier Neural Operator for Parametric Darcy Flow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645920"/>
            <a:ext cx="11091672" cy="3291840"/>
          </a:xfrm>
          <a:prstGeom prst="roundRect">
            <a:avLst>
              <a:gd name="adj" fmla="val 1944"/>
            </a:avLst>
          </a:prstGeom>
          <a:solidFill>
            <a:srgbClr val="F4F6FC"/>
          </a:solidFill>
          <a:ln w="12700">
            <a:solidFill>
              <a:srgbClr val="F4F6F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1920240"/>
            <a:ext cx="10332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Worst-case test samples (both models) have near-uniform permeability.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914400" y="2606040"/>
            <a:ext cx="103327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15000"/>
              </a:lnSpc>
              <a:spcAft>
                <a:spcPts val="1200"/>
              </a:spcAft>
              <a:buSzPct val="100000"/>
              <a:buChar char="•"/>
            </a:pPr>
            <a:r>
              <a:rPr lang="en-US" sz="15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Little spatial contrast for the model to exploit, producing a smooth radial pressure bump</a:t>
            </a:r>
            <a:endParaRPr lang="en-US" sz="1550" dirty="0"/>
          </a:p>
          <a:p>
            <a:pPr marL="228600" indent="-228600">
              <a:lnSpc>
                <a:spcPct val="115000"/>
              </a:lnSpc>
              <a:spcAft>
                <a:spcPts val="1200"/>
              </a:spcAft>
              <a:buSzPct val="100000"/>
              <a:buChar char="•"/>
            </a:pPr>
            <a:r>
              <a:rPr lang="en-US" sz="15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models slightly over-predict the peak amplitude of that bump</a:t>
            </a:r>
            <a:endParaRPr lang="en-US" sz="1550" dirty="0"/>
          </a:p>
          <a:p>
            <a:pPr marL="228600" indent="-228600">
              <a:lnSpc>
                <a:spcPct val="115000"/>
              </a:lnSpc>
              <a:spcAft>
                <a:spcPts val="1200"/>
              </a:spcAft>
              <a:buSzPct val="100000"/>
              <a:buChar char="•"/>
            </a:pPr>
            <a:r>
              <a:rPr lang="en-US" sz="15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Consistent with the training distribution: GRF correlation length 0.1 favors sharp blob structure, so near-uniform fields are rare in training</a:t>
            </a:r>
            <a:endParaRPr lang="en-US" sz="15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MEASURED, NOT ASSERTED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Real Inference-Speed Benchmark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AE646 — Fourier Neural Operator for Parametric Darcy Flow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54480"/>
          <a:ext cx="6675120" cy="914400"/>
        </p:xfrm>
        <a:graphic>
          <a:graphicData uri="http://schemas.openxmlformats.org/drawingml/2006/table">
            <a:tbl>
              <a:tblPr/>
              <a:tblGrid>
                <a:gridCol w="3291840"/>
                <a:gridCol w="1828800"/>
                <a:gridCol w="1554480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Method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Time / sample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Device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FNO (original)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0.71 ms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CUDA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MLP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50" b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0.13 ms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CUDA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FDM solver (scipy sparse)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1030 ms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50" dirty="0">
                          <a:solidFill>
                            <a:srgbClr val="22222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CPU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E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7498080" y="1554480"/>
            <a:ext cx="4142232" cy="1417320"/>
          </a:xfrm>
          <a:prstGeom prst="roundRect">
            <a:avLst>
              <a:gd name="adj" fmla="val 5161"/>
            </a:avLst>
          </a:prstGeom>
          <a:solidFill>
            <a:srgbClr val="F4F6FC"/>
          </a:solidFill>
          <a:ln w="12700">
            <a:solidFill>
              <a:srgbClr val="F4F6FC"/>
            </a:solidFill>
            <a:prstDash val="solid"/>
          </a:ln>
          <a:effectLst>
            <a:outerShdw sx="100000" sy="100000" kx="0" ky="0" algn="bl" rotWithShape="0" blurRad="76200" dist="25400" dir="5400000">
              <a:srgbClr val="888888">
                <a:alpha val="25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7635240" y="1664208"/>
            <a:ext cx="3867912" cy="82204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E7F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1000×+</a:t>
            </a:r>
            <a:endParaRPr lang="en-US" sz="3000" dirty="0"/>
          </a:p>
        </p:txBody>
      </p:sp>
      <p:sp>
        <p:nvSpPr>
          <p:cNvPr id="9" name="Text 6"/>
          <p:cNvSpPr/>
          <p:nvPr/>
        </p:nvSpPr>
        <p:spPr>
          <a:xfrm>
            <a:off x="7589520" y="2433218"/>
            <a:ext cx="3959352" cy="4960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 than solving the PDE numerically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548640" y="3977640"/>
            <a:ext cx="11091672" cy="2148840"/>
          </a:xfrm>
          <a:prstGeom prst="roundRect">
            <a:avLst>
              <a:gd name="adj" fmla="val 2979"/>
            </a:avLst>
          </a:prstGeom>
          <a:solidFill>
            <a:srgbClr val="F4F6FC"/>
          </a:solidFill>
          <a:ln w="12700">
            <a:solidFill>
              <a:srgbClr val="F4F6FC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914400" y="420624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Counter-intuitive but real: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914400" y="4572000"/>
            <a:ext cx="1033272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MLP is faster per sample than FNO despite 9× more parameters. FNO's FFT/IFFT round-trips and complex-valued arithmetic aren't as well amortized as MLP's large dense matmuls at single-sample inference on a modern GPU — parameter count and wall-clock latency are different things.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Findings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AE646 — Fourier Neural Operator for Parametric Darcy Flow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600200"/>
            <a:ext cx="457200" cy="45720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600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234440" y="1554480"/>
            <a:ext cx="10424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FNO beats MLP on accuracy with far fewer parameters — spectral inductive bias helps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548640" y="2313432"/>
            <a:ext cx="457200" cy="45720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23134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234440" y="2267712"/>
            <a:ext cx="10424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Original FNO is the most parameter-efficient configuration; improved FNO trades 16.6× more parameters for a 12.6% error reduction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548640" y="3236976"/>
            <a:ext cx="457200" cy="45720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323697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234440" y="3191256"/>
            <a:ext cx="10424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Zero-shot super-resolution genuinely works, verified against real PDEBench ground truth</a:t>
            </a:r>
            <a:endParaRPr lang="en-US" sz="1450" dirty="0"/>
          </a:p>
        </p:txBody>
      </p:sp>
      <p:sp>
        <p:nvSpPr>
          <p:cNvPr id="15" name="Shape 13"/>
          <p:cNvSpPr/>
          <p:nvPr/>
        </p:nvSpPr>
        <p:spPr>
          <a:xfrm>
            <a:off x="548640" y="3950208"/>
            <a:ext cx="457200" cy="45720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8640" y="39502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234440" y="3904488"/>
            <a:ext cx="10424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Parameter count ≠ inference latency: measured speed tells a different story than parameter counts alone</a:t>
            </a:r>
            <a:endParaRPr lang="en-US" sz="1450" dirty="0"/>
          </a:p>
        </p:txBody>
      </p:sp>
      <p:sp>
        <p:nvSpPr>
          <p:cNvPr id="18" name="Shape 16"/>
          <p:cNvSpPr/>
          <p:nvPr/>
        </p:nvSpPr>
        <p:spPr>
          <a:xfrm>
            <a:off x="548640" y="4782312"/>
            <a:ext cx="457200" cy="45720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48640" y="47823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234440" y="4736592"/>
            <a:ext cx="104241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gap to commonly-cited FNO literature numbers (~0.01–0.02) traces to real dataset differences (piecewise-constant vs continuous permeability), not a metric-definition artifact</a:t>
            </a:r>
            <a:endParaRPr lang="en-US" sz="14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LOOKING AHEAD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Limitations &amp; Future Work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AE646 — Fourier Neural Operator for Parametric Darcy Flow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48640" y="1554480"/>
            <a:ext cx="5394960" cy="3931920"/>
          </a:xfrm>
          <a:prstGeom prst="roundRect">
            <a:avLst>
              <a:gd name="adj" fmla="val 1628"/>
            </a:avLst>
          </a:prstGeom>
          <a:solidFill>
            <a:srgbClr val="F4F6FC"/>
          </a:solidFill>
          <a:ln w="12700">
            <a:solidFill>
              <a:srgbClr val="F4F6F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1783080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914400" y="2194560"/>
            <a:ext cx="466344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15000"/>
              </a:lnSpc>
              <a:spcAft>
                <a:spcPts val="1400"/>
              </a:spcAft>
              <a:buSzPct val="100000"/>
              <a:buChar char="•"/>
            </a:pPr>
            <a:r>
              <a:rPr lang="en-US" sz="14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FFT implies periodic BC; the PDE itself uses Dirichlet boundaries</a:t>
            </a:r>
            <a:endParaRPr lang="en-US" sz="1450" dirty="0"/>
          </a:p>
          <a:p>
            <a:pPr marL="228600" indent="-228600">
              <a:lnSpc>
                <a:spcPct val="115000"/>
              </a:lnSpc>
              <a:spcAft>
                <a:spcPts val="1400"/>
              </a:spcAft>
              <a:buSzPct val="100000"/>
              <a:buChar char="•"/>
            </a:pPr>
            <a:r>
              <a:rPr lang="en-US" sz="14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 modes cannot adapt to varying frequency content per-sample</a:t>
            </a:r>
            <a:endParaRPr lang="en-US" sz="1450" dirty="0"/>
          </a:p>
          <a:p>
            <a:pPr marL="228600" indent="-228600">
              <a:lnSpc>
                <a:spcPct val="115000"/>
              </a:lnSpc>
              <a:spcAft>
                <a:spcPts val="1400"/>
              </a:spcAft>
              <a:buSzPct val="100000"/>
              <a:buChar char="•"/>
            </a:pPr>
            <a:r>
              <a:rPr lang="en-US" sz="14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FNO's parameter efficiency doesn't automatically mean lower latency (slide 10)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6245352" y="1554480"/>
            <a:ext cx="5394960" cy="3931920"/>
          </a:xfrm>
          <a:prstGeom prst="roundRect">
            <a:avLst>
              <a:gd name="adj" fmla="val 1628"/>
            </a:avLst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611112" y="1783080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WORK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611112" y="2194560"/>
            <a:ext cx="466344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15000"/>
              </a:lnSpc>
              <a:spcAft>
                <a:spcPts val="1400"/>
              </a:spcAft>
              <a:buSzPct val="100000"/>
              <a:buChar char="•"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U-FNO / WNO architectures for sharper interfaces</a:t>
            </a:r>
            <a:endParaRPr lang="en-US" sz="1450" dirty="0"/>
          </a:p>
          <a:p>
            <a:pPr marL="228600" indent="-228600">
              <a:lnSpc>
                <a:spcPct val="115000"/>
              </a:lnSpc>
              <a:spcAft>
                <a:spcPts val="1400"/>
              </a:spcAft>
              <a:buSzPct val="100000"/>
              <a:buChar char="•"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Physics-informed loss (PDE residual)</a:t>
            </a:r>
            <a:endParaRPr lang="en-US" sz="1450" dirty="0"/>
          </a:p>
          <a:p>
            <a:pPr marL="228600" indent="-228600">
              <a:lnSpc>
                <a:spcPct val="115000"/>
              </a:lnSpc>
              <a:spcAft>
                <a:spcPts val="1400"/>
              </a:spcAft>
              <a:buSzPct val="100000"/>
              <a:buChar char="•"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Time-dependent / 3D extensions</a:t>
            </a:r>
            <a:endParaRPr lang="en-US" sz="14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IS VERSIONED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Reproducibility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AE646 — Fourier Neural Operator for Parametric Darcy Flow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1417320"/>
            <a:ext cx="11064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ONE-COMMAND REPRODUCTION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1755648"/>
            <a:ext cx="11091672" cy="2331720"/>
          </a:xfrm>
          <a:prstGeom prst="roundRect">
            <a:avLst>
              <a:gd name="adj" fmla="val 1961"/>
            </a:avLst>
          </a:prstGeom>
          <a:solidFill>
            <a:srgbClr val="F0F1F5"/>
          </a:solidFill>
          <a:ln w="12700">
            <a:solidFill>
              <a:srgbClr val="D8DEE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" y="1920240"/>
            <a:ext cx="106070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pip install -r requirements.txt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 src/download_data.py       # real PDEBench, checksum-verified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 src/preprocess.py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 src/train.py --config configs/fno.yaml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 src/evaluate.py --config configs/fno.yaml --checkpoint results/run_001/best_model.pt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 src/superres_eval.py --config configs/fno.yaml --checkpoint results/run_001/best_model.pt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 src/benchmark_speed.py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48640" y="4343400"/>
            <a:ext cx="1109167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configs, seeds, and metrics are versioned in this repo</a:t>
            </a:r>
            <a:endParaRPr lang="en-US" sz="1500" dirty="0"/>
          </a:p>
          <a:p>
            <a:pPr marL="228600" indent="-228600">
              <a:lnSpc>
                <a:spcPct val="1150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independently cross-checked across two machines (Apple Silicon and an NVIDIA GPU)</a:t>
            </a:r>
            <a:endParaRPr lang="en-US" sz="15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280160" y="-1645920"/>
            <a:ext cx="4206240" cy="4206240"/>
          </a:xfrm>
          <a:prstGeom prst="ellipse">
            <a:avLst/>
          </a:prstGeom>
          <a:solidFill>
            <a:srgbClr val="273775"/>
          </a:solidFill>
          <a:ln w="12700">
            <a:solidFill>
              <a:srgbClr val="27377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692640" y="4389120"/>
            <a:ext cx="3291840" cy="3291840"/>
          </a:xfrm>
          <a:prstGeom prst="ellipse">
            <a:avLst/>
          </a:prstGeom>
          <a:solidFill>
            <a:srgbClr val="273775"/>
          </a:solidFill>
          <a:ln w="12700">
            <a:solidFill>
              <a:srgbClr val="27377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22960" y="2468880"/>
            <a:ext cx="10515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822960" y="342900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Questions?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822960" y="420624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9FB3E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Report:  FINAL_REPORT.md      Results:  results/      Code:  src/</a:t>
            </a:r>
            <a:endParaRPr lang="en-US" sz="13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2026-08-14T14:39:20Z</dcterms:created>
  <dcterms:modified xsi:type="dcterms:W3CDTF">2026-08-14T14:39:20Z</dcterms:modified>
</cp:coreProperties>
</file>