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02920"/>
            <a:ext cx="10360152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Calibri"/>
              </a:rPr>
              <a:t>Fourier Neural Operator
for Parametric Darcy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D6E4F0"/>
                </a:solidFill>
                <a:latin typeface="Calibri"/>
              </a:rPr>
              <a:t>AE646: Scientific Machine Learning for Fluid Mechanics
Project Theme #8 - Operator Learning for Parametric PDEs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07408"/>
            <a:ext cx="103601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2E86C1"/>
                </a:solidFill>
                <a:latin typeface="Calibri"/>
              </a:rPr>
              <a:t>Team PINNacles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92040"/>
            <a:ext cx="10360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  <a:latin typeface="Calibri"/>
              </a:rPr>
              <a:t>Aryamann Srivastava  •  Varun Sathaye  •  Atishay Jain  •  Vedant S. Tiwari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94960"/>
            <a:ext cx="103601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D6D7E"/>
                </a:solidFill>
                <a:latin typeface="Calibri"/>
              </a:rPr>
              <a:t>IIT Kanpur  |  Semester 2026–27-I  |  Dr. Sathesh Mariappan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29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65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0"/>
                </a:solidFill>
                <a:latin typeface="Calibri"/>
              </a:rPr>
              <a:t>2D Darcy flow - steady-state pressure in a heterogeneous porous medium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0"/>
                </a:solidFill>
                <a:latin typeface="Calibri"/>
              </a:rPr>
              <a:t>AE646  |  PINNacles  |  Stage 1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6E4F0"/>
                </a:solidFill>
                <a:latin typeface="Calibri"/>
              </a:rPr>
              <a:t>2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5591556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527048"/>
            <a:ext cx="52623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E4A"/>
                </a:solidFill>
                <a:latin typeface="Calibri"/>
              </a:rPr>
              <a:t>The Governing Equation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938527"/>
            <a:ext cx="52623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F4E79"/>
                </a:solidFill>
                <a:latin typeface="Calibri"/>
              </a:rPr>
              <a:t>−∇·( κ(x,y) ∇u(x,y) ) = f(x,y)   on (0,1)²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423160"/>
            <a:ext cx="52623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2C3E50"/>
                </a:solidFill>
                <a:latin typeface="Calibri"/>
              </a:rPr>
              <a:t>u = 0 on boundary,   f = β =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2807208"/>
            <a:ext cx="52623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5D6D7E"/>
                </a:solidFill>
                <a:latin typeface="Calibri"/>
              </a:rPr>
              <a:t>κ(x,y) = permeability field   |   u(x,y) = pressure solution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5916" y="1417320"/>
            <a:ext cx="5591556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527048"/>
            <a:ext cx="52623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A6F1E"/>
                </a:solidFill>
                <a:latin typeface="Calibri"/>
              </a:rPr>
              <a:t>The Challenge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5916" y="1938527"/>
            <a:ext cx="559155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Traditional solvers (FDM/FEM) re-solve for every new κ field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Each solve: ~1 second for a simple 2D case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Optimization or UQ needs thousands of solves → impractical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429000"/>
            <a:ext cx="11365992" cy="2926080"/>
          </a:xfrm>
          <a:prstGeom prst="rect">
            <a:avLst/>
          </a:prstGeom>
          <a:solidFill>
            <a:srgbClr val="D6E4F0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4E79"/>
                </a:solidFill>
                <a:latin typeface="Calibri"/>
              </a:rPr>
              <a:t>Objective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087368"/>
            <a:ext cx="10908792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2E4A"/>
                </a:solidFill>
                <a:latin typeface="Calibri"/>
              </a:rPr>
              <a:t>Learn the solution operator  G : κ(x,y) → u(x,y)  once.
Evaluate any new permeability field in milliseconds - no re-solving needed.
Enables fast parametric studies, optimization, and uncertainty quantification.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29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65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0"/>
                </a:solidFill>
                <a:latin typeface="Calibri"/>
              </a:rPr>
              <a:t>PDEBench 2D Darcy Flow (β=1.0) - official, checksum-verified source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0"/>
                </a:solidFill>
                <a:latin typeface="Calibri"/>
              </a:rPr>
              <a:t>AE646  |  PINNacles  |  Stage 1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6E4F0"/>
                </a:solidFill>
                <a:latin typeface="Calibri"/>
              </a:rPr>
              <a:t>3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5591556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527048"/>
            <a:ext cx="52623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E4A"/>
                </a:solidFill>
                <a:latin typeface="Calibri"/>
              </a:rPr>
              <a:t>Official 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947672"/>
            <a:ext cx="5262372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DaRUS / University of Stuttgart
DOI: 10.18419/darus-2986
10,000 samples at native 128×128 resolution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5916" y="1417320"/>
            <a:ext cx="5591556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0508" y="1527048"/>
            <a:ext cx="52623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E4A"/>
                </a:solidFill>
                <a:latin typeface="Calibri"/>
              </a:rPr>
              <a:t>Our Reproducible Subset  (seed = 42)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508" y="1947672"/>
            <a:ext cx="5262372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Train: 900 samples
Validation: 100 samples
Test: 200 samples (held out)
Main resolution: 64×64  (stride-2 downsample)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429000"/>
            <a:ext cx="3666744" cy="43891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502152"/>
            <a:ext cx="33924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Permeability  κ(x,y)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867912"/>
            <a:ext cx="3666744" cy="2487168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" y="3995928"/>
            <a:ext cx="33375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Piecewise-constant: values in {0.1, 1.0}
Generated by thresholding a smooth Gaussian random field at zero
Produces sharp-boundary blob patterns in 2D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3429000"/>
            <a:ext cx="3666744" cy="438912"/>
          </a:xfrm>
          <a:prstGeom prst="rect">
            <a:avLst/>
          </a:prstGeom>
          <a:solidFill>
            <a:srgbClr val="1E8B4C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8264" y="3502152"/>
            <a:ext cx="33924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Why 64×64?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61104" y="3867912"/>
            <a:ext cx="3666744" cy="2487168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25696" y="3995928"/>
            <a:ext cx="33375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Standard resolution for FNO Darcy experiments
Retains full PDE spatial structure
FNO can then be tested at 128×128 zero-shot - no retraining needed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10728" y="3429000"/>
            <a:ext cx="3666744" cy="438912"/>
          </a:xfrm>
          <a:prstGeom prst="rect">
            <a:avLst/>
          </a:prstGeom>
          <a:solidFill>
            <a:srgbClr val="CA6F1E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7888" y="3502152"/>
            <a:ext cx="33924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Super-Res Hold-out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0728" y="3867912"/>
            <a:ext cx="3666744" cy="2487168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995928"/>
            <a:ext cx="33375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200 test samples also kept at native 128×128
Used only for zero-shot evaluation
Never seen by the model during training in any 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29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Baseline Method: MLP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65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0"/>
                </a:solidFill>
                <a:latin typeface="Calibri"/>
              </a:rPr>
              <a:t>Dense fully-connected network - no spatial inductive bias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0"/>
                </a:solidFill>
                <a:latin typeface="Calibri"/>
              </a:rPr>
              <a:t>AE646  |  PINNacles  |  Stage 1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6E4F0"/>
                </a:solidFill>
                <a:latin typeface="Calibri"/>
              </a:rPr>
              <a:t>4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11365992" cy="10058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" y="1563624"/>
            <a:ext cx="1380744" cy="71323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618488"/>
            <a:ext cx="13807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Input
64×64×3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85416" y="1563624"/>
            <a:ext cx="1380744" cy="71323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85416" y="1618488"/>
            <a:ext cx="13807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Flatten
→12,288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94760" y="1563624"/>
            <a:ext cx="1380744" cy="71323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1618488"/>
            <a:ext cx="13807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Linear 2048
+GELU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75504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4104" y="1563624"/>
            <a:ext cx="1380744" cy="71323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04104" y="1618488"/>
            <a:ext cx="13807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Linear 2048
+GELU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13448" y="1563624"/>
            <a:ext cx="1380744" cy="71323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13448" y="1618488"/>
            <a:ext cx="13807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Linear 2048
+GELU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22792" y="1563624"/>
            <a:ext cx="1380744" cy="71323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22792" y="1618488"/>
            <a:ext cx="13807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Linear 4096
+Reshape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03536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232136" y="1563624"/>
            <a:ext cx="1380744" cy="713232"/>
          </a:xfrm>
          <a:prstGeom prst="rect">
            <a:avLst/>
          </a:prstGeom>
          <a:solidFill>
            <a:srgbClr val="1E8B4C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32136" y="1618488"/>
            <a:ext cx="13807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Output
64×64×1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2514600"/>
            <a:ext cx="5591556" cy="251460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2624328"/>
            <a:ext cx="52623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E4A"/>
                </a:solidFill>
                <a:latin typeface="Calibri"/>
              </a:rPr>
              <a:t>Architecture Details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3044952"/>
            <a:ext cx="559155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42.0M trainable parameters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Input: [permeability, x_coord, y_coord] - 3 channels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3 hidden layers × 2048 units, GELU activation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Output: flat 64×64, reshaped to grid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85916" y="2514600"/>
            <a:ext cx="5591556" cy="251460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0508" y="2624328"/>
            <a:ext cx="52623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A6F1E"/>
                </a:solidFill>
                <a:latin typeface="Calibri"/>
              </a:rPr>
              <a:t>Why This as Baseline?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5916" y="3044952"/>
            <a:ext cx="559155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Treats all 4096 output pixels independently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No spatial locality or translation equivariance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Fixed 64×64 I/O - cannot evaluate at any other resolution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Establishes a clear performance floor for comparison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120640"/>
            <a:ext cx="11365992" cy="1325880"/>
          </a:xfrm>
          <a:prstGeom prst="rect">
            <a:avLst/>
          </a:prstGeom>
          <a:solidFill>
            <a:srgbClr val="D6E4F0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321808"/>
            <a:ext cx="1090879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E4A"/>
                </a:solidFill>
                <a:latin typeface="Calibri"/>
              </a:rPr>
              <a:t>Key limitation:  the MLP has hard-coded 64×64 input/output dimensions - it cannot be evaluated zero-shot at any other resolution. This is in direct contrast to the FNO.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29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Proposed SciML Method: Fourier Neural Operator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65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0"/>
                </a:solidFill>
                <a:latin typeface="Calibri"/>
              </a:rPr>
              <a:t>Operator learning via spectral convolutions - resolution-invariant by construction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0"/>
                </a:solidFill>
                <a:latin typeface="Calibri"/>
              </a:rPr>
              <a:t>AE646  |  PINNacles  |  Stage 1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6E4F0"/>
                </a:solidFill>
                <a:latin typeface="Calibri"/>
              </a:rPr>
              <a:t>5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11365992" cy="10058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" y="1563624"/>
            <a:ext cx="1648968" cy="71323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600200"/>
            <a:ext cx="164896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Input
64×64×3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5040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53640" y="1563624"/>
            <a:ext cx="1648968" cy="71323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3640" y="1600200"/>
            <a:ext cx="164896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Lift
3→64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2608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1208" y="1563624"/>
            <a:ext cx="1648968" cy="71323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1208" y="1600200"/>
            <a:ext cx="164896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SpectralConv
Block ×4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0176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8776" y="1563624"/>
            <a:ext cx="1648968" cy="71323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08776" y="1600200"/>
            <a:ext cx="164896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FFT→W→IFFT
+Conv1×1
+LN+GELU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57744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86344" y="1563624"/>
            <a:ext cx="1648968" cy="71323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6344" y="1600200"/>
            <a:ext cx="164896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Project
64→128→1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5312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63912" y="1563624"/>
            <a:ext cx="1648968" cy="713232"/>
          </a:xfrm>
          <a:prstGeom prst="rect">
            <a:avLst/>
          </a:prstGeom>
          <a:solidFill>
            <a:srgbClr val="1E8B4C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3912" y="1600200"/>
            <a:ext cx="164896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Output
64×64×1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514600"/>
            <a:ext cx="5910315" cy="393192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2624328"/>
            <a:ext cx="55811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E4A"/>
                </a:solidFill>
                <a:latin typeface="Calibri"/>
              </a:rPr>
              <a:t>How Spectral Convolution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108960"/>
            <a:ext cx="54988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1.  Apply 2D FFT  →  frequency domain representation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749040"/>
            <a:ext cx="54988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2.  Keep only the lowest 12×12 Fourier modes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389120"/>
            <a:ext cx="54988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3.  Multiply by learned complex weights (learning in Fourier space)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029200"/>
            <a:ext cx="54988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4.  Inverse FFT  →  back to physical space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669280"/>
            <a:ext cx="54988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5.  Add 1×1 Conv bypass, normalize, activate (GELU)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04675" y="2514600"/>
            <a:ext cx="5272796" cy="393192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69267" y="2624328"/>
            <a:ext cx="49436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E8B4C"/>
                </a:solidFill>
                <a:latin typeface="Calibri"/>
              </a:rPr>
              <a:t>Key Properties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04675" y="3044952"/>
            <a:ext cx="5272796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4.7M parameters - 8.8× fewer than MLP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Resolution-invariant: weights don't depend on grid size</a:t>
            </a:r>
          </a:p>
          <a:p>
            <a:pPr lvl="1"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◦  → Evaluates at 128×128 zero-shot, no retraining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Spectral inductive bias: Darcy pressure is low-frequency dominated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Also training a larger config:</a:t>
            </a:r>
          </a:p>
          <a:p>
            <a:pPr lvl="1"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◦  → width=128, modes=20, 6 layers - 78.8M params</a:t>
            </a:r>
          </a:p>
          <a:p>
            <a:pPr lvl="1"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◦  → Studies accuracy vs parameter-count trade-off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29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Evaluation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65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0"/>
                </a:solidFill>
                <a:latin typeface="Calibri"/>
              </a:rPr>
              <a:t>Metrics, expected results, and planned figures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0"/>
                </a:solidFill>
                <a:latin typeface="Calibri"/>
              </a:rPr>
              <a:t>AE646  |  PINNacles  |  Stage 1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6E4F0"/>
                </a:solidFill>
                <a:latin typeface="Calibri"/>
              </a:rPr>
              <a:t>6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11365992" cy="868680"/>
          </a:xfrm>
          <a:prstGeom prst="rect">
            <a:avLst/>
          </a:prstGeom>
          <a:solidFill>
            <a:srgbClr val="D6E4F0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2E4A"/>
                </a:solidFill>
                <a:latin typeface="Calibri"/>
              </a:rPr>
              <a:t>Primary Metric - Relative L2 Error (physical units)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11096"/>
            <a:ext cx="109087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‖ prediction − truth ‖₂ / ‖ truth ‖₂   computed after denormalizing to physical pressure units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2704338" cy="43891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450592"/>
            <a:ext cx="24300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Relative L2 Error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816352"/>
            <a:ext cx="2704338" cy="2075688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962656"/>
            <a:ext cx="2375154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Mean / median / std /
min / max across all
200 test samples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8698" y="2377440"/>
            <a:ext cx="2704338" cy="438912"/>
          </a:xfrm>
          <a:prstGeom prst="rect">
            <a:avLst/>
          </a:prstGeom>
          <a:solidFill>
            <a:srgbClr val="1E8B4C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35858" y="2450592"/>
            <a:ext cx="24300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Zero-Shot Super-Res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8698" y="2816352"/>
            <a:ext cx="2704338" cy="2075688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63290" y="2962656"/>
            <a:ext cx="2375154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FNO at native 128×128
vs real PDEBench ground
truth - no retraining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85916" y="2377440"/>
            <a:ext cx="2704338" cy="438912"/>
          </a:xfrm>
          <a:prstGeom prst="rect">
            <a:avLst/>
          </a:prstGeom>
          <a:solidFill>
            <a:srgbClr val="CA6F1E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23076" y="2450592"/>
            <a:ext cx="24300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Inference Speed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85916" y="2816352"/>
            <a:ext cx="2704338" cy="2075688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0508" y="2962656"/>
            <a:ext cx="2375154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Wall-clock time vs FDM
numerical solver -
measured, not asserted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73134" y="2377440"/>
            <a:ext cx="2704338" cy="43891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10294" y="2450592"/>
            <a:ext cx="24300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Qualitative Plots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73134" y="2816352"/>
            <a:ext cx="2704338" cy="2075688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7726" y="2962656"/>
            <a:ext cx="2375154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κ input | target u |
prediction | absolute
error maps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983480"/>
            <a:ext cx="11365992" cy="14630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093208"/>
            <a:ext cx="110368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E4A"/>
                </a:solidFill>
                <a:latin typeface="Calibri"/>
              </a:rPr>
              <a:t>Literature Reference &amp; Expected Range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" y="5513832"/>
            <a:ext cx="1103680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Li et al. 2021 (original FNO paper) reports ~0.01–0.02 relative L2 on Darcy flow. Their dataset uses smooth, continuous log-permeability (κ = exp(GRF)). PDEBench uses piecewise-constant κ ∈ {0.1, 1.0} - sharper interfaces, a harder variant. Some deviation from the literature number is expected and will be discussed.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29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Expected Figures &amp; Tables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65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0"/>
                </a:solidFill>
                <a:latin typeface="Calibri"/>
              </a:rPr>
              <a:t>Planned deliverables for Stage 2 and Stage 3 reports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0"/>
                </a:solidFill>
                <a:latin typeface="Calibri"/>
              </a:rPr>
              <a:t>AE646  |  PINNacles  |  Stage 1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6E4F0"/>
                </a:solidFill>
                <a:latin typeface="Calibri"/>
              </a:rPr>
              <a:t>7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2126894" cy="475488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1490472"/>
            <a:ext cx="190743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1.  Error Distribution Histograms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892808"/>
            <a:ext cx="2126894" cy="4553712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1892808"/>
            <a:ext cx="2126894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075688"/>
            <a:ext cx="185257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Per-sample relative L2 for FNO (original), FNO (improved), and MLP.
Shows mean, median, and tail - where does each model struggle?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21254" y="1417320"/>
            <a:ext cx="2126894" cy="475488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30982" y="1490472"/>
            <a:ext cx="190743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2.  Sample Predictions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21254" y="1892808"/>
            <a:ext cx="2126894" cy="4553712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21254" y="1892808"/>
            <a:ext cx="2126894" cy="7315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8414" y="2075688"/>
            <a:ext cx="185257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Side-by-side panels:
κ input  |  target u  |  FNO prediction  |  absolute error.
For several representative test cases.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31028" y="1417320"/>
            <a:ext cx="2126894" cy="475488"/>
          </a:xfrm>
          <a:prstGeom prst="rect">
            <a:avLst/>
          </a:prstGeom>
          <a:solidFill>
            <a:srgbClr val="1E8B4C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40756" y="1490472"/>
            <a:ext cx="190743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3.  Model Comparison Table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31028" y="1892808"/>
            <a:ext cx="2126894" cy="4553712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31028" y="1892808"/>
            <a:ext cx="2126894" cy="73152"/>
          </a:xfrm>
          <a:prstGeom prst="rect">
            <a:avLst/>
          </a:prstGeom>
          <a:solidFill>
            <a:srgbClr val="1E8B4C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8188" y="2075688"/>
            <a:ext cx="185257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Mean / median Rel L2, parameter count, and inference time (ms/sample) for all three models in a single table.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0803" y="1417320"/>
            <a:ext cx="2126894" cy="475488"/>
          </a:xfrm>
          <a:prstGeom prst="rect">
            <a:avLst/>
          </a:prstGeom>
          <a:solidFill>
            <a:srgbClr val="CA6F1E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0531" y="1490472"/>
            <a:ext cx="190743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4.  Zero-Shot Super-Res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40803" y="1892808"/>
            <a:ext cx="2126894" cy="4553712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40803" y="1892808"/>
            <a:ext cx="2126894" cy="73152"/>
          </a:xfrm>
          <a:prstGeom prst="rect">
            <a:avLst/>
          </a:prstGeom>
          <a:solidFill>
            <a:srgbClr val="CA6F1E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77963" y="2075688"/>
            <a:ext cx="185257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Both FNOs evaluated at native 128×128 vs real PDEBench ground truth.
Validates resolution-invariance without any retraining.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50577" y="1417320"/>
            <a:ext cx="2126894" cy="475488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60305" y="1490472"/>
            <a:ext cx="190743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5.  Efficiency Scatter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50577" y="1892808"/>
            <a:ext cx="2126894" cy="4553712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50577" y="1892808"/>
            <a:ext cx="2126894" cy="73152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7737" y="2075688"/>
            <a:ext cx="185257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Accuracy (Rel L2) vs parameter count - one point per model.
Shows the Pareto trade-off between model size and error.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29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Work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65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0"/>
                </a:solidFill>
                <a:latin typeface="Calibri"/>
              </a:rPr>
              <a:t>Three-stage project timeline - Stage 1 complete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0"/>
                </a:solidFill>
                <a:latin typeface="Calibri"/>
              </a:rPr>
              <a:t>AE646  |  PINNacles  |  Stage 1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6E4F0"/>
                </a:solidFill>
                <a:latin typeface="Calibri"/>
              </a:rPr>
              <a:t>8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3666744" cy="502920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508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Stage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152704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Calibri"/>
              </a:rPr>
              <a:t>✓  DONE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920240"/>
            <a:ext cx="3666744" cy="594360"/>
          </a:xfrm>
          <a:prstGeom prst="rect">
            <a:avLst/>
          </a:prstGeom>
          <a:solidFill>
            <a:srgbClr val="D6E4F0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975104"/>
            <a:ext cx="3392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E4A"/>
                </a:solidFill>
                <a:latin typeface="Calibri"/>
              </a:rPr>
              <a:t>Project Proposal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49424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D6D7E"/>
                </a:solidFill>
                <a:latin typeface="Calibri"/>
              </a:rPr>
              <a:t>Due: Aug 27,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514600"/>
            <a:ext cx="3666744" cy="393192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26791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4E79"/>
                </a:solidFill>
                <a:latin typeface="Calibri"/>
              </a:rPr>
              <a:t>✓  Confirm PDEBench as dataset (source verified)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" y="35935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4E79"/>
                </a:solidFill>
                <a:latin typeface="Calibri"/>
              </a:rPr>
              <a:t>✓  Finalize MLP and FNO architecture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45079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4E79"/>
                </a:solidFill>
                <a:latin typeface="Calibri"/>
              </a:rPr>
              <a:t>✓  Define evaluation methodology and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" y="54223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4E79"/>
                </a:solidFill>
                <a:latin typeface="Calibri"/>
              </a:rPr>
              <a:t>✓  Submit proposal PDF and presentation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61104" y="1417320"/>
            <a:ext cx="3666744" cy="502920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98264" y="1508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Stage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6248" y="152704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Calibri"/>
              </a:rPr>
              <a:t>UPCOMING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920240"/>
            <a:ext cx="3666744" cy="594360"/>
          </a:xfrm>
          <a:prstGeom prst="rect">
            <a:avLst/>
          </a:prstGeom>
          <a:solidFill>
            <a:srgbClr val="D6E4F0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98264" y="1975104"/>
            <a:ext cx="3392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E4A"/>
                </a:solidFill>
                <a:latin typeface="Calibri"/>
              </a:rPr>
              <a:t>Implementation &amp; Interim Results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8264" y="2249424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D6D7E"/>
                </a:solidFill>
                <a:latin typeface="Calibri"/>
              </a:rPr>
              <a:t>Due: Sep 8, 2026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61104" y="2514600"/>
            <a:ext cx="3666744" cy="393192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25696" y="26791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→  Set up data download and preprocessing pipeline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5696" y="35935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→  Implement and train MLP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45079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→  Implement and train FNO (original config)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25696" y="54223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→  Gather preliminary results and plots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0728" y="1417320"/>
            <a:ext cx="3666744" cy="502920"/>
          </a:xfrm>
          <a:prstGeom prst="rect">
            <a:avLst/>
          </a:prstGeom>
          <a:solidFill>
            <a:srgbClr val="1E8B4C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7888" y="1508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Stage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05872" y="152704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Calibri"/>
              </a:rPr>
              <a:t>PLANNED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10728" y="1920240"/>
            <a:ext cx="3666744" cy="594360"/>
          </a:xfrm>
          <a:prstGeom prst="rect">
            <a:avLst/>
          </a:prstGeom>
          <a:solidFill>
            <a:srgbClr val="D6E4F0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47888" y="1975104"/>
            <a:ext cx="3392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E4A"/>
                </a:solidFill>
                <a:latin typeface="Calibri"/>
              </a:rPr>
              <a:t>Final Report, Code &amp; Viva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7888" y="2249424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D6D7E"/>
                </a:solidFill>
                <a:latin typeface="Calibri"/>
              </a:rPr>
              <a:t>Due: Nov 13, 2026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10728" y="2514600"/>
            <a:ext cx="3666744" cy="393192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75320" y="26791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→  Train improved FNO (width=128, modes=20)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35935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→  Zero-shot super-resolution at 128×128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5079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→  Inference speed benchmark vs FDM solver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4223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→  Final report, code submission, viva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29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Individual 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65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0"/>
                </a:solidFill>
                <a:latin typeface="Calibri"/>
              </a:rPr>
              <a:t>Team PINNacles - Group of 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0"/>
                </a:solidFill>
                <a:latin typeface="Calibri"/>
              </a:rPr>
              <a:t>AE646  |  PINNacles  |  Stage 1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6E4F0"/>
                </a:solidFill>
                <a:latin typeface="Calibri"/>
              </a:rPr>
              <a:t>9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2704338" cy="777240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490472"/>
            <a:ext cx="27043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Aryamann
Srivastava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194560"/>
            <a:ext cx="2704338" cy="28346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3500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Model implementation (FNO and MLP)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0358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Training and evaluation pipelines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216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Data download and preprocessing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4074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Benchmarks and report drafting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8698" y="1417320"/>
            <a:ext cx="2704338" cy="777240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8698" y="1490472"/>
            <a:ext cx="27043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Varun
Sathaye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8698" y="2194560"/>
            <a:ext cx="2704338" cy="28346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35858" y="23500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Literature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35858" y="30358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Baseline model tuning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35858" y="37216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Error analysis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35858" y="44074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Formatting deliverables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5916" y="1417320"/>
            <a:ext cx="2704338" cy="777240"/>
          </a:xfrm>
          <a:prstGeom prst="rect">
            <a:avLst/>
          </a:prstGeom>
          <a:solidFill>
            <a:srgbClr val="1E8B4C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85916" y="1490472"/>
            <a:ext cx="27043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Atishay
Jain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5916" y="2194560"/>
            <a:ext cx="2704338" cy="28346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3076" y="23500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Data visualization and plotting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3076" y="30358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Error distribution figures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3076" y="37216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Field comparison plots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3076" y="44074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Slide preparation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73134" y="1417320"/>
            <a:ext cx="2704338" cy="777240"/>
          </a:xfrm>
          <a:prstGeom prst="rect">
            <a:avLst/>
          </a:prstGeom>
          <a:solidFill>
            <a:srgbClr val="CA6F1E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73134" y="1490472"/>
            <a:ext cx="27043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Vedant S.
Tiwari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3134" y="2194560"/>
            <a:ext cx="2704338" cy="28346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10294" y="23500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Zero-shot super-res testing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10294" y="30358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Speed benchmarking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10294" y="37216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Cross-checking results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0294" y="44074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Proofreading final report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20640"/>
            <a:ext cx="11365992" cy="1234440"/>
          </a:xfrm>
          <a:prstGeom prst="rect">
            <a:avLst/>
          </a:prstGeom>
          <a:solidFill>
            <a:srgbClr val="D6E4F0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523036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2E4A"/>
                </a:solidFill>
                <a:latin typeface="Calibri"/>
              </a:rPr>
              <a:t>AI Tool Use Declaration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623560"/>
            <a:ext cx="1090879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Claude / ChatGPT used for conceptual understanding, coding assistance, debugging, and report drafting. All output inspected, verified, and fully understood by the team before submission - in accordance with AE646's academic integrity policy.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88952" cy="64008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52728"/>
            <a:ext cx="1828800" cy="676656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16736"/>
            <a:ext cx="18288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335024"/>
            <a:ext cx="9262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6E4F0"/>
                </a:solidFill>
                <a:latin typeface="Calibri"/>
              </a:rPr>
              <a:t>2D Darcy flow - learn G: κ → u to replace repeated PDE solves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20824"/>
            <a:ext cx="1828800" cy="676656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84832"/>
            <a:ext cx="18288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103120"/>
            <a:ext cx="9262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6E4F0"/>
                </a:solidFill>
                <a:latin typeface="Calibri"/>
              </a:rPr>
              <a:t>Real PDEBench 2D Darcy (β=1.0)  |  900 / 100 / 200 split at 64×64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88920"/>
            <a:ext cx="1828800" cy="676656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852928"/>
            <a:ext cx="18288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871216"/>
            <a:ext cx="9262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6E4F0"/>
                </a:solidFill>
                <a:latin typeface="Calibri"/>
              </a:rPr>
              <a:t>MLP (42M params) - no spatial inductive bias, fixed resolution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57016"/>
            <a:ext cx="1828800" cy="676656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621024"/>
            <a:ext cx="18288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SciML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639312"/>
            <a:ext cx="9262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6E4F0"/>
                </a:solidFill>
                <a:latin typeface="Calibri"/>
              </a:rPr>
              <a:t>FNO (4.7M params) - spectral convolutions, resolution-invariant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25112"/>
            <a:ext cx="1828800" cy="676656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389120"/>
            <a:ext cx="18288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Extended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407408"/>
            <a:ext cx="9262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6E4F0"/>
                </a:solidFill>
                <a:latin typeface="Calibri"/>
              </a:rPr>
              <a:t>Larger FNO (78.8M params) - accuracy vs parameter-count trade-off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093208"/>
            <a:ext cx="1828800" cy="676656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5157216"/>
            <a:ext cx="18288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Evaluation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175504"/>
            <a:ext cx="9262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6E4F0"/>
                </a:solidFill>
                <a:latin typeface="Calibri"/>
              </a:rPr>
              <a:t>Rel L2 error  |  zero-shot super-res at 128×128  |  speed vs FDM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291072"/>
            <a:ext cx="12188952" cy="566928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355080"/>
            <a:ext cx="112745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FFFFFF"/>
                </a:solidFill>
                <a:latin typeface="Calibri"/>
              </a:rPr>
              <a:t>Thank you  -  Questions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